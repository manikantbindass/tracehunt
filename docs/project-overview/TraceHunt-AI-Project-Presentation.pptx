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2070785acf4f53" /><Relationship Type="http://schemas.openxmlformats.org/officeDocument/2006/relationships/extended-properties" Target="/docProps/app.xml" Id="R43a1e17cc6b64eb4" /><Relationship Type="http://schemas.openxmlformats.org/officeDocument/2006/relationships/officeDocument" Target="/ppt/presentation.xml" Id="Rf8d5546f86584442" /></Relationships>
</file>

<file path=ppt/presentation.xml><?xml version="1.0" encoding="utf-8"?>
<p:presentation xmlns:p="http://schemas.openxmlformats.org/presentationml/2006/main">
  <p:sldMasterIdLst>
    <p:sldMasterId xmlns:r="http://schemas.openxmlformats.org/officeDocument/2006/relationships" id="2147483648" r:id="R161b3ad459a74600"/>
  </p:sldMasterIdLst>
  <p:notesMasterIdLst>
    <p:notesMasterId xmlns:r="http://schemas.openxmlformats.org/officeDocument/2006/relationships" r:id="Rdda3c635045d4a3d"/>
  </p:notesMasterIdLst>
  <p:sldIdLst>
    <p:sldId xmlns:r="http://schemas.openxmlformats.org/officeDocument/2006/relationships" id="256" r:id="R904ac5b22ebe45fb"/>
    <p:sldId xmlns:r="http://schemas.openxmlformats.org/officeDocument/2006/relationships" id="257" r:id="R5af67ac5ca834f36"/>
    <p:sldId xmlns:r="http://schemas.openxmlformats.org/officeDocument/2006/relationships" id="258" r:id="Rb34c48e239e54317"/>
    <p:sldId xmlns:r="http://schemas.openxmlformats.org/officeDocument/2006/relationships" id="259" r:id="Rff8202cdf5ac479d"/>
    <p:sldId xmlns:r="http://schemas.openxmlformats.org/officeDocument/2006/relationships" id="260" r:id="R65afc11043c54722"/>
    <p:sldId xmlns:r="http://schemas.openxmlformats.org/officeDocument/2006/relationships" id="261" r:id="R1b14894763ac4c6f"/>
    <p:sldId xmlns:r="http://schemas.openxmlformats.org/officeDocument/2006/relationships" id="262" r:id="R4f5865486946478d"/>
    <p:sldId xmlns:r="http://schemas.openxmlformats.org/officeDocument/2006/relationships" id="263" r:id="Rad67b2cb420a4287"/>
    <p:sldId xmlns:r="http://schemas.openxmlformats.org/officeDocument/2006/relationships" id="264" r:id="Re7dd691f7eab4f45"/>
    <p:sldId xmlns:r="http://schemas.openxmlformats.org/officeDocument/2006/relationships" id="265" r:id="R1d102ed20fb6401e"/>
    <p:sldId xmlns:r="http://schemas.openxmlformats.org/officeDocument/2006/relationships" id="266" r:id="R1b9135cf882c4618"/>
    <p:sldId xmlns:r="http://schemas.openxmlformats.org/officeDocument/2006/relationships" id="267" r:id="R4d204797d57949e7"/>
    <p:sldId xmlns:r="http://schemas.openxmlformats.org/officeDocument/2006/relationships" id="268" r:id="R013036fe28b24117"/>
    <p:sldId xmlns:r="http://schemas.openxmlformats.org/officeDocument/2006/relationships" id="269" r:id="R9766893f9a77483c"/>
    <p:sldId xmlns:r="http://schemas.openxmlformats.org/officeDocument/2006/relationships" id="270" r:id="R7bc8ab6deac542ca"/>
    <p:sldId xmlns:r="http://schemas.openxmlformats.org/officeDocument/2006/relationships" id="271" r:id="Rc17e48e26be74f3a"/>
    <p:sldId xmlns:r="http://schemas.openxmlformats.org/officeDocument/2006/relationships" id="272" r:id="R20d6cc85b4a64ba5"/>
    <p:sldId xmlns:r="http://schemas.openxmlformats.org/officeDocument/2006/relationships" id="273" r:id="R7cdc8ee804c040ae"/>
    <p:sldId xmlns:r="http://schemas.openxmlformats.org/officeDocument/2006/relationships" id="274" r:id="Raee96c14f9374b1f"/>
    <p:sldId xmlns:r="http://schemas.openxmlformats.org/officeDocument/2006/relationships" id="275" r:id="Raf9cab74bf664ecb"/>
    <p:sldId xmlns:r="http://schemas.openxmlformats.org/officeDocument/2006/relationships" id="276" r:id="R5691b6cb0aed47a0"/>
    <p:sldId xmlns:r="http://schemas.openxmlformats.org/officeDocument/2006/relationships" id="277" r:id="R55fc6f667ae145b6"/>
    <p:sldId xmlns:r="http://schemas.openxmlformats.org/officeDocument/2006/relationships" id="278" r:id="Rdf629c37d64b4a06"/>
    <p:sldId xmlns:r="http://schemas.openxmlformats.org/officeDocument/2006/relationships" id="279" r:id="R21b714d48a8b44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cd23d012444493" /><Relationship Type="http://schemas.openxmlformats.org/officeDocument/2006/relationships/slideMaster" Target="/ppt/slideMasters/slideMaster1.xml" Id="R161b3ad459a74600" /><Relationship Type="http://schemas.openxmlformats.org/officeDocument/2006/relationships/notesMaster" Target="/ppt/notesMasters/notesMaster1.xml" Id="Rdda3c635045d4a3d" /><Relationship Type="http://schemas.openxmlformats.org/officeDocument/2006/relationships/presProps" Target="/ppt/presProps.xml" Id="Rd1837e84cf9546a2" /><Relationship Type="http://schemas.openxmlformats.org/officeDocument/2006/relationships/tableStyles" Target="/ppt/tableStyles.xml" Id="R64ed8705e07342fa" /><Relationship Type="http://schemas.openxmlformats.org/officeDocument/2006/relationships/slide" Target="/ppt/slides/slide1.xml" Id="R904ac5b22ebe45fb" /><Relationship Type="http://schemas.openxmlformats.org/officeDocument/2006/relationships/slide" Target="/ppt/slides/slide2.xml" Id="R5af67ac5ca834f36" /><Relationship Type="http://schemas.openxmlformats.org/officeDocument/2006/relationships/slide" Target="/ppt/slides/slide3.xml" Id="Rb34c48e239e54317" /><Relationship Type="http://schemas.openxmlformats.org/officeDocument/2006/relationships/slide" Target="/ppt/slides/slide4.xml" Id="Rff8202cdf5ac479d" /><Relationship Type="http://schemas.openxmlformats.org/officeDocument/2006/relationships/slide" Target="/ppt/slides/slide5.xml" Id="R65afc11043c54722" /><Relationship Type="http://schemas.openxmlformats.org/officeDocument/2006/relationships/slide" Target="/ppt/slides/slide6.xml" Id="R1b14894763ac4c6f" /><Relationship Type="http://schemas.openxmlformats.org/officeDocument/2006/relationships/slide" Target="/ppt/slides/slide7.xml" Id="R4f5865486946478d" /><Relationship Type="http://schemas.openxmlformats.org/officeDocument/2006/relationships/slide" Target="/ppt/slides/slide8.xml" Id="Rad67b2cb420a4287" /><Relationship Type="http://schemas.openxmlformats.org/officeDocument/2006/relationships/slide" Target="/ppt/slides/slide9.xml" Id="Re7dd691f7eab4f45" /><Relationship Type="http://schemas.openxmlformats.org/officeDocument/2006/relationships/slide" Target="/ppt/slides/slide10.xml" Id="R1d102ed20fb6401e" /><Relationship Type="http://schemas.openxmlformats.org/officeDocument/2006/relationships/slide" Target="/ppt/slides/slide11.xml" Id="R1b9135cf882c4618" /><Relationship Type="http://schemas.openxmlformats.org/officeDocument/2006/relationships/slide" Target="/ppt/slides/slide12.xml" Id="R4d204797d57949e7" /><Relationship Type="http://schemas.openxmlformats.org/officeDocument/2006/relationships/slide" Target="/ppt/slides/slide13.xml" Id="R013036fe28b24117" /><Relationship Type="http://schemas.openxmlformats.org/officeDocument/2006/relationships/slide" Target="/ppt/slides/slide14.xml" Id="R9766893f9a77483c" /><Relationship Type="http://schemas.openxmlformats.org/officeDocument/2006/relationships/slide" Target="/ppt/slides/slide15.xml" Id="R7bc8ab6deac542ca" /><Relationship Type="http://schemas.openxmlformats.org/officeDocument/2006/relationships/slide" Target="/ppt/slides/slide16.xml" Id="Rc17e48e26be74f3a" /><Relationship Type="http://schemas.openxmlformats.org/officeDocument/2006/relationships/slide" Target="/ppt/slides/slide17.xml" Id="R20d6cc85b4a64ba5" /><Relationship Type="http://schemas.openxmlformats.org/officeDocument/2006/relationships/slide" Target="/ppt/slides/slide18.xml" Id="R7cdc8ee804c040ae" /><Relationship Type="http://schemas.openxmlformats.org/officeDocument/2006/relationships/slide" Target="/ppt/slides/slide19.xml" Id="Raee96c14f9374b1f" /><Relationship Type="http://schemas.openxmlformats.org/officeDocument/2006/relationships/slide" Target="/ppt/slides/slide20.xml" Id="Raf9cab74bf664ecb" /><Relationship Type="http://schemas.openxmlformats.org/officeDocument/2006/relationships/slide" Target="/ppt/slides/slide21.xml" Id="R5691b6cb0aed47a0" /><Relationship Type="http://schemas.openxmlformats.org/officeDocument/2006/relationships/slide" Target="/ppt/slides/slide22.xml" Id="R55fc6f667ae145b6" /><Relationship Type="http://schemas.openxmlformats.org/officeDocument/2006/relationships/slide" Target="/ppt/slides/slide23.xml" Id="Rdf629c37d64b4a06" /><Relationship Type="http://schemas.openxmlformats.org/officeDocument/2006/relationships/slide" Target="/ppt/slides/slide24.xml" Id="R21b714d48a8b44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890aafe94a4b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b426e59f664db5" /><Relationship Type="http://schemas.openxmlformats.org/officeDocument/2006/relationships/notesMaster" Target="/ppt/notesMasters/notesMaster1.xml" Id="Ra38c8bab46e64b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b42bc8ba474c4b" /><Relationship Type="http://schemas.openxmlformats.org/officeDocument/2006/relationships/notesMaster" Target="/ppt/notesMasters/notesMaster1.xml" Id="R84585cfd9bb140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1254ee68794d60" /><Relationship Type="http://schemas.openxmlformats.org/officeDocument/2006/relationships/notesMaster" Target="/ppt/notesMasters/notesMaster1.xml" Id="R37fd459754aa46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9d1925862449fc" /><Relationship Type="http://schemas.openxmlformats.org/officeDocument/2006/relationships/notesMaster" Target="/ppt/notesMasters/notesMaster1.xml" Id="Red04dabfd5f344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580a854f2c4806" /><Relationship Type="http://schemas.openxmlformats.org/officeDocument/2006/relationships/notesMaster" Target="/ppt/notesMasters/notesMaster1.xml" Id="Rda439b8128b142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13b1a87e7143a9" /><Relationship Type="http://schemas.openxmlformats.org/officeDocument/2006/relationships/notesMaster" Target="/ppt/notesMasters/notesMaster1.xml" Id="Rdba7a0e7edba43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1054476e0948ad" /><Relationship Type="http://schemas.openxmlformats.org/officeDocument/2006/relationships/notesMaster" Target="/ppt/notesMasters/notesMaster1.xml" Id="Reb7bae84b9d048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154c8216f34d92" /><Relationship Type="http://schemas.openxmlformats.org/officeDocument/2006/relationships/notesMaster" Target="/ppt/notesMasters/notesMaster1.xml" Id="Ree8d0bcfbe554a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703d63d1f74c14" /><Relationship Type="http://schemas.openxmlformats.org/officeDocument/2006/relationships/notesMaster" Target="/ppt/notesMasters/notesMaster1.xml" Id="R217b95b5f4dd4c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20c78b93cf46c8" /><Relationship Type="http://schemas.openxmlformats.org/officeDocument/2006/relationships/notesMaster" Target="/ppt/notesMasters/notesMaster1.xml" Id="R06f93e327848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6f06780aeb4d94" /><Relationship Type="http://schemas.openxmlformats.org/officeDocument/2006/relationships/notesMaster" Target="/ppt/notesMasters/notesMaster1.xml" Id="Re3c1a029b7f541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6576dd5a6c4e04" /><Relationship Type="http://schemas.openxmlformats.org/officeDocument/2006/relationships/notesMaster" Target="/ppt/notesMasters/notesMaster1.xml" Id="Rb7745822cfd646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f7171f34d3407e" /><Relationship Type="http://schemas.openxmlformats.org/officeDocument/2006/relationships/notesMaster" Target="/ppt/notesMasters/notesMaster1.xml" Id="R842cc030203449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37ad5e26974527" /><Relationship Type="http://schemas.openxmlformats.org/officeDocument/2006/relationships/notesMaster" Target="/ppt/notesMasters/notesMaster1.xml" Id="R2df6eaecb38c42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5416fc0877418a" /><Relationship Type="http://schemas.openxmlformats.org/officeDocument/2006/relationships/notesMaster" Target="/ppt/notesMasters/notesMaster1.xml" Id="R81baec44aa684d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e9e24582ab429a" /><Relationship Type="http://schemas.openxmlformats.org/officeDocument/2006/relationships/notesMaster" Target="/ppt/notesMasters/notesMaster1.xml" Id="R4d6ce59b27174b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15e30d97364908" /><Relationship Type="http://schemas.openxmlformats.org/officeDocument/2006/relationships/notesMaster" Target="/ppt/notesMasters/notesMaster1.xml" Id="R0a60b1661b5f4d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0f3af1b7994bb8" /><Relationship Type="http://schemas.openxmlformats.org/officeDocument/2006/relationships/notesMaster" Target="/ppt/notesMasters/notesMaster1.xml" Id="R06df39cead0e47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71d1913a014238" /><Relationship Type="http://schemas.openxmlformats.org/officeDocument/2006/relationships/notesMaster" Target="/ppt/notesMasters/notesMaster1.xml" Id="Rf9188b79689b42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b8c6a097ae4041" /><Relationship Type="http://schemas.openxmlformats.org/officeDocument/2006/relationships/notesMaster" Target="/ppt/notesMasters/notesMaster1.xml" Id="R788f8df4132a4a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a5ce6c01ef4654" /><Relationship Type="http://schemas.openxmlformats.org/officeDocument/2006/relationships/notesMaster" Target="/ppt/notesMasters/notesMaster1.xml" Id="R26fcc96f2ecc44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0334c55b9f45ac" /><Relationship Type="http://schemas.openxmlformats.org/officeDocument/2006/relationships/notesMaster" Target="/ppt/notesMasters/notesMaster1.xml" Id="Rf468bea212d142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7f90bca13f44b6" /><Relationship Type="http://schemas.openxmlformats.org/officeDocument/2006/relationships/notesMaster" Target="/ppt/notesMasters/notesMaster1.xml" Id="Rc3009437c0d543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2871de9f014948" /><Relationship Type="http://schemas.openxmlformats.org/officeDocument/2006/relationships/notesMaster" Target="/ppt/notesMasters/notesMaster1.xml" Id="Rfe254a6a10a045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TraceHunt AI is a single-workspace observability and incident intelligence application. It combines an operator dashboard, a validated ingestion API, a durable SQL event outbox, scheduled HTTP checks, incident rules, and evidence-based analysis. This guide explains the implementation in the repository, from its purpose to its operational boundaries.</a:t>
            </a:r>
          </a:p>
          <a:p xmlns:a="http://schemas.openxmlformats.org/drawingml/2006/main">
            <a:r>
              <a:t/>
            </a:r>
          </a:p>
          <a:p xmlns:a="http://schemas.openxmlformats.org/drawingml/2006/main">
            <a:r>
              <a:t>The platform is a development foundation, not a qualified high-availability monitoring service. AI assistance produces hypotheses and suggested actions; it does not prove a cause or execute remediation. The examples and graphs in this document are invented teaching data, not measurements from a customer system. Implementation references are pinned to the source revision listed below.</a:t>
            </a:r>
          </a:p>
          <a:p xmlns:a="http://schemas.openxmlformats.org/drawingml/2006/main">
            <a:r>
              <a:t/>
            </a:r>
          </a:p>
          <a:p xmlns:a="http://schemas.openxmlformats.org/drawingml/2006/main">
            <a:r>
              <a:t>Implementation source: https://github.com/manikantbindass/Tracehunt/blob/0f148d696d546a78c850bdffa3a55eb52c56ce6b/README.md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API can return errors while its process remains alive. A latency spike may coincide with a release, database connection pressure, or an upstream timeout. Without a shared view, engineers manually search logs, compare timestamps, identify the affected service, and collect evidence before deciding what to do.</a:t>
            </a:r>
          </a:p>
          <a:p xmlns:a="http://schemas.openxmlformats.org/drawingml/2006/main">
            <a:r>
              <a:t/>
            </a:r>
          </a:p>
          <a:p xmlns:a="http://schemas.openxmlformats.org/drawingml/2006/main">
            <a:r>
              <a:t>TraceHunt brings these signals into one workflow. It records checks and logs, creates a deduplicated incident when a rule matches, attaches relevant evidence, and presents a probable cause with recommended actions. The intended benefit is less manual context gathering and a clearer investigation record. The repository does not establish a measured reduction in downtime or mean time to recovery.</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on-call engineer starts with the overview and monitor status, opens the affected incident, checks the evidence and analysis source, and moves the incident to investigating. A backend engineer searches structured logs by service, severity, or trace ID and checks the hypothesis against the application and its dependencies. A release owner records versions and commit references so deployments can be considered during analysis.</a:t>
            </a:r>
          </a:p>
          <a:p xmlns:a="http://schemas.openxmlformats.org/drawingml/2006/main">
            <a:r>
              <a:t/>
            </a:r>
          </a:p>
          <a:p xmlns:a="http://schemas.openxmlformats.org/drawingml/2006/main">
            <a:r>
              <a:t>These are workflow roles, not implemented access-control roles. The application has one shared workspace key outside demo mode, without per-user identities or tenant isolation. An audit actor is a supplied label, not proof of an authenticated person. Teams needing accountability or restricted administrative privileges must add an authentication and authorization layer before using it for sensitive workloads.</a:t>
            </a:r>
          </a:p>
          <a:p xmlns:a="http://schemas.openxmlformats.org/drawingml/2006/main">
            <a:r>
              <a:t/>
            </a:r>
          </a:p>
          <a:p xmlns:a="http://schemas.openxmlformats.org/drawingml/2006/main">
            <a:r>
              <a:t>Implementation source: https://github.com/manikantbindass/Tracehunt/blob/0f148d696d546a78c850bdffa3a55eb52c56ce6b/SECURITY.md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Collection is separate from investigation. Applications submit JSON logs and deployments to FastAPI. The worker checks enabled HTTP monitors and evaluates persisted events. A matching rule produces an incident, its timeline, and an incident-created event. That event triggers automatic analysis and, when configured, webhook delivery.</a:t>
            </a:r>
          </a:p>
          <a:p xmlns:a="http://schemas.openxmlformats.org/drawingml/2006/main">
            <a:r>
              <a:t/>
            </a:r>
          </a:p>
          <a:p xmlns:a="http://schemas.openxmlformats.org/drawingml/2006/main">
            <a:r>
              <a:t>The operator reviews the analysis alongside raw evidence. Recommended actions may include checking a database pool, reviewing a deployment, or investigating an upstream dependency. Any mitigation happens outside TraceHunt. The operator then records status changes in the application. This human decision step matters because correlated evidence and generated explanations can be incomplete or wrong. Recovery of a monitor does not automatically close its incident.</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Next.js serves the dashboard and forwards same-origin /api/v1 requests to FastAPI. Applications and log shippers can also call FastAPI directly. The API validates inputs and writes durable records. The background worker uses the same database to schedule monitors, claim outbox events, evaluate incident rules, run analysis, retry failures, and perform retention.</a:t>
            </a:r>
          </a:p>
          <a:p xmlns:a="http://schemas.openxmlformats.org/drawingml/2006/main">
            <a:r>
              <a:t/>
            </a:r>
          </a:p>
          <a:p xmlns:a="http://schemas.openxmlformats.org/drawingml/2006/main">
            <a:r>
              <a:t>SQLite supports local development; PostgreSQL is used by the Compose stack. Redis Streams carries event identifiers, while SQL remains authoritative and is swept even when Redis is configured. Redis is not a direct dashboard notification channel. Optional external calls include validated HTTP probes, an incident webhook, and the OpenAI Responses API. Each creates a distinct network and operational boundary.</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 application lives in apps/web. The API entry point in apps/api/app/main.py exposes queries, mutations, authentication, health, metrics, and the activity stream. Business logic in services.py handles ingestion, checks, incident creation, and analysis. worker.py handles schedules, claims, retries, and cleanup. SQLAlchemy provides the database abstraction and Alembic tracks schema migrations.</a:t>
            </a:r>
          </a:p>
          <a:p xmlns:a="http://schemas.openxmlformats.org/drawingml/2006/main">
            <a:r>
              <a:t/>
            </a:r>
          </a:p>
          <a:p xmlns:a="http://schemas.openxmlformats.org/drawingml/2006/main">
            <a:r>
              <a:t>The local path can run with SQLite and no Redis or provider key. The Docker Compose path separates web, API, worker, PostgreSQL, and Redis into services. These components make the application understandable and extensible, but their presence alone does not establish throughput, fault tolerance, or horizontal scalability. Those properties require deployment design and measured testing.</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Structured logs provide searchable service names, normalized severity, messages, optional trace IDs, and metadata. Numeric metadata.latency_ms can contribute to overview latency calculations. Timestamps are assigned at ingestion; historical source timestamps are not accepted. A trace_id links searchable records but does not create distributed tracing spans or an OpenTelemetry collector.</a:t>
            </a:r>
          </a:p>
          <a:p xmlns:a="http://schemas.openxmlformats.org/drawingml/2006/main">
            <a:r>
              <a:t/>
            </a:r>
          </a:p>
          <a:p xmlns:a="http://schemas.openxmlformats.org/drawingml/2006/main">
            <a:r>
              <a:t>For ERROR and FATAL records, the database transaction inserts both the log and a log.error event. This avoids committing a log while forgetting its detection event. The worker later evaluates the service error window. Redaction reduces some common secret exposure but is regex-based and incomplete; applications should remove secrets and unnecessary personal information before sending logs.</a:t>
            </a:r>
          </a:p>
          <a:p xmlns:a="http://schemas.openxmlformats.org/drawingml/2006/main">
            <a:r>
              <a:t/>
            </a:r>
          </a:p>
          <a:p xmlns:a="http://schemas.openxmlformats.org/drawingml/2006/main">
            <a:r>
              <a:t>Implementation source: https://github.com/manikantbindass/Tracehunt/blob/0f148d696d546a78c850bdffa3a55eb52c56ce6b/apps/api/app/services.py</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monitor supports GET or HEAD, one expected HTTP status, and a latency threshold. Timing ends when response headers arrive; response bodies are not downloaded. The worker schedules enabled, non-demo monitors sequentially. Intervals are scheduling targets rather than strict deadlines, and a slow target can delay other due checks. Manual checks can run on paused monitors.</a:t>
            </a:r>
          </a:p>
          <a:p xmlns:a="http://schemas.openxmlformats.org/drawingml/2006/main">
            <a:r>
              <a:t/>
            </a:r>
          </a:p>
          <a:p xmlns:a="http://schemas.openxmlformats.org/drawingml/2006/main">
            <a:r>
              <a:t>URLs are revalidated at execution. DNS results are checked and pinned, redirects and environment proxies are disabled, and TLS verification stays enabled. Private-network access is blocked by default. Sample monitors return synthetic manual-check results without network requests and are skipped by the scheduler. A degraded result can still count as successful uptime because its HTTP status matched.</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worker counts recent ERROR/FATAL logs for an exact service at processing time. Five errors in the default 300-second window meet the error-burst rule; three times the threshold makes a newly created incident critical. A rule-state row serializes creation and stores the last incident reference. Monitor rules use a fingerprint per monitor: down creates critical severity and degraded creates medium severity.</a:t>
            </a:r>
          </a:p>
          <a:p xmlns:a="http://schemas.openxmlformats.org/drawingml/2006/main">
            <a:r>
              <a:t/>
            </a:r>
          </a:p>
          <a:p xmlns:a="http://schemas.openxmlformats.org/drawingml/2006/main">
            <a:r>
              <a:t>An active incident suppresses duplicates. Repeated matching events do not raise its severity or append every log to its timeline. After resolution, a default 900-second cooldown is measured from the previous incident creation time. Delayed processing can miss an old burst after it leaves the current window. These are explicit rule semantics, not adaptive baselines or guaranteed event-time detection.</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uses invented error counts per minute: 0, 1, 0, 2, 6, 9, 7, 4, 2, 1, 0, 0. The second line sums each minute and the four preceding minutes, with earlier values assumed zero. This is a discrete illustration of the default five-minute rule, evaluated at the end of each minute, not an exact replay of the asynchronous worker.</a:t>
            </a:r>
          </a:p>
          <a:p xmlns:a="http://schemas.openxmlformats.org/drawingml/2006/main">
            <a:r>
              <a:t/>
            </a:r>
          </a:p>
          <a:p xmlns:a="http://schemas.openxmlformats.org/drawingml/2006/main">
            <a:r>
              <a:t>At minute 4 the rolling count reaches 9, enough to open a high incident. At minute 5 it reaches 18, above the critical creation threshold of 15. Because an incident is already active, the implementation does not automatically upgrade it. Counts falling afterward do not resolve it. No values here represent actual project traffic, accuracy, or measured operational performance.</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invented p95 series illustrates how a timing view can guide questions during an investigation. The values are 110, 115, 118, 150, 420, 790, 880, 720, 410, 200, 135, and 120 milliseconds. A deployment marker at minute 3 and a human mitigation marker at minute 7 are scenario annotations. They do not establish that a deployment caused the spike or that the mitigation fixed it.</a:t>
            </a:r>
          </a:p>
          <a:p xmlns:a="http://schemas.openxmlformats.org/drawingml/2006/main">
            <a:r>
              <a:t/>
            </a:r>
          </a:p>
          <a:p xmlns:a="http://schemas.openxmlformats.org/drawingml/2006/main">
            <a:r>
              <a:t>In the implemented overview, latency comes from numeric log metadata.latency_ms, with monitor-check latency used when there are no log latencies. The dashboard can aggregate a bounded sample, so its percentile should be read with the sampling flag and selected window. This graph is a teaching dataset rather than a dashboard export or a capacity benchmark.</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Incident records contain service, severity, status, rule fingerprint, summary, timestamps, and the latest analysis. The timeline records creation, status changes, and analysis activity; the audit table provides a broader system activity record. Operators can create incidents manually as well as receive rule-generated ones.</a:t>
            </a:r>
          </a:p>
          <a:p xmlns:a="http://schemas.openxmlformats.org/drawingml/2006/main">
            <a:r>
              <a:t/>
            </a:r>
          </a:p>
          <a:p xmlns:a="http://schemas.openxmlformats.org/drawingml/2006/main">
            <a:r>
              <a:t>The statuses support coordination, but the application does not enforce a complex incident-management process, ownership system, or escalation schedule. Resolution is a human update even if a monitor becomes healthy. Reopening is allowed. Teams should record the actual causal finding and mitigation in their operational process rather than treating a generated probable cause as a completed postmortem.</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analyzer selects logs for the exact incident service from 30 minutes before to one hour after incident creation. It includes at most 30 records, plus up to three deployments from the prior two hours. This bounds the context and links analysis to recorded evidence. Missing telemetry, inconsistent service names, delayed ingestion, and retention can all reduce what is available.</a:t>
            </a:r>
          </a:p>
          <a:p xmlns:a="http://schemas.openxmlformats.org/drawingml/2006/main">
            <a:r>
              <a:t/>
            </a:r>
          </a:p>
          <a:p xmlns:a="http://schemas.openxmlformats.org/drawingml/2006/main">
            <a:r>
              <a:t>The local heuristic analyzer recognizes a small set of patterns, including connection pressure, timeouts, and rate limiting. Otherwise it can report insufficient evidence. The result includes a source and generation time. Confidence is an uncalibrated estimate, not a measured probability of correctness. A recent deployment is evidence to investigate, not proof of causality.</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OPENAI_API_KEY is configured, automatic worker analysis and manual analysis may send incident context and correlated evidence to the configured OpenAI model. Requests use a structured result schema and store=False. The source field distinguishes provider output from heuristic output; operators should inspect it before interpreting an investigation.</a:t>
            </a:r>
          </a:p>
          <a:p xmlns:a="http://schemas.openxmlformats.org/drawingml/2006/main">
            <a:r>
              <a:t/>
            </a:r>
          </a:p>
          <a:p xmlns:a="http://schemas.openxmlformats.org/drawingml/2006/main">
            <a:r>
              <a:t>Telemetry is treated as untrusted prompt content. The analyzer has no infrastructure tools and cannot execute commands or rollbacks. Redaction is best effort, and store=False is a request setting rather than a guarantee about all provider retention. Only enable the integration after deciding which data may leave the system. Reanalysis replaces the latest analysis; older full outputs are not versioned, although timeline activity remains.</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stores UUID-string identifiers and UTC timestamps. A monitor has many checks by monitor ID. Incident timelines reference incident IDs. Logs and deployments correlate with incidents by exact service name and time windows, rather than a full tracing graph. Events contain durable payloads, availability, attempt count, lease state, and processed status.</a:t>
            </a:r>
          </a:p>
          <a:p xmlns:a="http://schemas.openxmlformats.org/drawingml/2006/main">
            <a:r>
              <a:t/>
            </a:r>
          </a:p>
          <a:p xmlns:a="http://schemas.openxmlformats.org/drawingml/2006/main">
            <a:r>
              <a:t>These are logical relationships; the current schema does not enforce database foreign-key cascades. Deleting a monitor explicitly deletes its checks. SQLite uses WAL and a busy timeout for local work. PostgreSQL is the Compose database. The API and worker must share the same database URL, including the working directory when a relative SQLite path is used.</a:t>
            </a:r>
          </a:p>
          <a:p xmlns:a="http://schemas.openxmlformats.org/drawingml/2006/main">
            <a:r>
              <a:t/>
            </a:r>
          </a:p>
          <a:p xmlns:a="http://schemas.openxmlformats.org/drawingml/2006/main">
            <a:r>
              <a:t>Implementation source: https://github.com/manikantbindass/Tracehunt/blob/0f148d696d546a78c850bdffa3a55eb52c56ce6b/apps/api/app/models.py</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worker conditionally claims an event and increments its attempt count before handling it. Database side effects and success are committed together. If the worker crashes, another worker can recover the event after the lease expires. Redis uses the tracehunt:events stream and workers consumer group to transport identifiers. The SQL sweep continues even when Redis fails.</a:t>
            </a:r>
          </a:p>
          <a:p xmlns:a="http://schemas.openxmlformats.org/drawingml/2006/main">
            <a:r>
              <a:t/>
            </a:r>
          </a:p>
          <a:p xmlns:a="http://schemas.openxmlformats.org/drawingml/2006/main">
            <a:r>
              <a:t>Retries use exponential delays capped at 300 seconds. After five attempts, an event is marked processed and an event.failed audit entry is recorded; there is no dead-letter queue or replay endpoint. HTTP webhooks are at least once: a receiver may accept a request before the worker commits. Receivers must deduplicate by event_id. The two-second tick wait is not a promise of two-second end-to-end detection.</a:t>
            </a:r>
          </a:p>
          <a:p xmlns:a="http://schemas.openxmlformats.org/drawingml/2006/main">
            <a:r>
              <a:t/>
            </a:r>
          </a:p>
          <a:p xmlns:a="http://schemas.openxmlformats.org/drawingml/2006/main">
            <a:r>
              <a:t>Implementation source: https://github.com/manikantbindass/Tracehunt/blob/0f148d696d546a78c850bdffa3a55eb52c56ce6b/apps/api/app/worker.py</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supports windows from one to 168 hours, with 24 time buckets. Its request count is a count of ingested log rows; error rate is the fraction with ERROR/FATAL severity. Latency uses log metadata or monitor checks. Total log and error counts are separate database counts, but charts, services, and percentiles load at most 50,000 records. The sampled flag signals when the log limit is exceeded.</a:t>
            </a:r>
          </a:p>
          <a:p xmlns:a="http://schemas.openxmlformats.org/drawingml/2006/main">
            <a:r>
              <a:t/>
            </a:r>
          </a:p>
          <a:p xmlns:a="http://schemas.openxmlformats.org/drawingml/2006/main">
            <a:r>
              <a:t>Monitor-list uptime uses the last 24 hours. Slow status-matching checks count as successful, and no checks displays 100%, which is not observed availability. The dashboard refreshes via API requests; the separate SSE endpoint polls SQL audit records every three seconds. The four exposed metrics are database gauges; logs_total is retained-row count rather than a monotonically increasing counter.</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Compose, copy .env.example to .env, review it, then run docker compose up --build -d --wait. The configured dashboard is localhost:3000 and the API is localhost:8000. The API applies alembic upgrade head before starting, and the worker follows API readiness. Docker needs a running Linux container engine. The current development session used frontend port 3001; that is separate from the Compose default.</a:t>
            </a:r>
          </a:p>
          <a:p xmlns:a="http://schemas.openxmlformats.org/drawingml/2006/main">
            <a:r>
              <a:t/>
            </a:r>
          </a:p>
          <a:p xmlns:a="http://schemas.openxmlformats.org/drawingml/2006/main">
            <a:r>
              <a:t>For local Python, install the API requirements, work from apps/api, run alembic upgrade head, and start uvicorn app.main:app --host 127.0.0.1 --port 8000. Run python -m app.worker separately with the same environment. Install frontend dependencies and use the README web command. Do not blindly migrate or stamp an existing demo-created database; preserve it and follow the runbook adoption guidance.</a:t>
            </a:r>
          </a:p>
          <a:p xmlns:a="http://schemas.openxmlformats.org/drawingml/2006/main">
            <a:r>
              <a:t/>
            </a:r>
          </a:p>
          <a:p xmlns:a="http://schemas.openxmlformats.org/drawingml/2006/main">
            <a:r>
              <a:t>Implementation source: https://github.com/manikantbindass/Tracehunt/blob/0f148d696d546a78c850bdffa3a55eb52c56ce6b/docs/modules/operations.md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Integrations send JSON to /api/v1/logs, /api/v1/logs/batch, and /api/v1/deployments. Read endpoints cover overview, monitors, logs, incidents, deployments, audit, and settings. A monitor can be created, edited, deleted, or checked manually. Incidents support creation, detail, status updates, and an analyze action. Consult the generated OpenAPI schema for exact request bodies and limits.</a:t>
            </a:r>
          </a:p>
          <a:p xmlns:a="http://schemas.openxmlformats.org/drawingml/2006/main">
            <a:r>
              <a:t/>
            </a:r>
          </a:p>
          <a:p xmlns:a="http://schemas.openxmlformats.org/drawingml/2006/main">
            <a:r>
              <a:t>Outside demo mode include X-API-Key. A minimal log body is {"service":"payments","level":"ERROR","message":"upstream timeout","metadata":{"latency_ms":850}}. Repeated error logs can trigger a rule only when the worker is running and its current window meets the threshold. HTTP success from ingestion proves persistence, not that detection or an external alert has completed.</a:t>
            </a:r>
          </a:p>
          <a:p xmlns:a="http://schemas.openxmlformats.org/drawingml/2006/main">
            <a:r>
              <a:t/>
            </a:r>
          </a:p>
          <a:p xmlns:a="http://schemas.openxmlformats.org/drawingml/2006/main">
            <a:r>
              <a:t>Implementation source: https://github.com/manikantbindass/Tracehunt/blob/0f148d696d546a78c850bdffa3a55eb52c56ce6b/docs/modules/api.md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mode is unauthenticated and seeded with synthetic data. For a private deployment disable DEMO_MODE and SEED_DEMO, set a random API_KEY of at least 24 characters, and use unique database credentials. Add HTTPS, external authentication or a private network, gateway request/rate limits, and protected backups. CORS is an allowed-origin control, not a replacement for authorization.</a:t>
            </a:r>
          </a:p>
          <a:p xmlns:a="http://schemas.openxmlformats.org/drawingml/2006/main">
            <a:r>
              <a:t/>
            </a:r>
          </a:p>
          <a:p xmlns:a="http://schemas.openxmlformats.org/drawingml/2006/main">
            <a:r>
              <a:t>There are no built-in users, tenant boundaries, SSO, or RBAC. The workspace key is stored in browser session storage. Monitor and webhook destinations share the private-network policy; enabling private access widens both. Webhooks do not have signatures or custom authorization headers. Regex redaction cannot guarantee confidentiality, so minimize input data and review provider data handling before enabling AI.</a:t>
            </a:r>
          </a:p>
          <a:p xmlns:a="http://schemas.openxmlformats.org/drawingml/2006/main">
            <a:r>
              <a:t/>
            </a:r>
          </a:p>
          <a:p xmlns:a="http://schemas.openxmlformats.org/drawingml/2006/main">
            <a:r>
              <a:t>Implementation source: https://github.com/manikantbindass/Tracehunt/blob/0f148d696d546a78c850bdffa3a55eb52c56ce6b/SECURITY.md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successful /ready checks database connectivity and the monitor table. It does not prove worker liveness, Redis health, webhook delivery, or full schema compatibility. If checks stop or pending events grow, inspect worker logs and confirm its database configuration. event.retry and event.failed audit records explain delivery trouble; exhausted events no longer count as pending.</a:t>
            </a:r>
          </a:p>
          <a:p xmlns:a="http://schemas.openxmlformats.org/drawingml/2006/main">
            <a:r>
              <a:t/>
            </a:r>
          </a:p>
          <a:p xmlns:a="http://schemas.openxmlformats.org/drawingml/2006/main">
            <a:r>
              <a:t>Retention runs approximately hourly in the worker and removes old logs, checks, audit, and processed events. Incidents, timelines, deployments, rule states, and unprocessed events remain. SQL backups are authoritative; Redis is not a substitute. Stop SQLite writers or use its backup API. Restore into a separate database with workers and outbound integrations disabled until verified, because restored pending events may trigger external effects.</a:t>
            </a:r>
          </a:p>
          <a:p xmlns:a="http://schemas.openxmlformats.org/drawingml/2006/main">
            <a:r>
              <a:t/>
            </a:r>
          </a:p>
          <a:p xmlns:a="http://schemas.openxmlformats.org/drawingml/2006/main">
            <a:r>
              <a:t>Implementation source: https://github.com/manikantbindass/Tracehunt/blob/0f148d696d546a78c850bdffa3a55eb52c56ce6b/docs/modules/operations.md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handoff recorded 46 passing backend tests, a clean Ruff check, passing TypeScript and production build checks, and ten live smoke checks. These are a baseline from the implementation work, not fresh results produced by this documentation build. Re-run the repository commands and inspect CI for the revision being deployed. The optional Compose test profile probes a controlled nginx endpoint.</a:t>
            </a:r>
          </a:p>
          <a:p xmlns:a="http://schemas.openxmlformats.org/drawingml/2006/main">
            <a:r>
              <a:t/>
            </a:r>
          </a:p>
          <a:p xmlns:a="http://schemas.openxmlformats.org/drawingml/2006/main">
            <a:r>
              <a:t>The local Docker engine was unavailable during the prior validation, and no live provider-quality evaluation was established. Unit tests and smoke checks do not prove sustained throughput, multi-worker correctness under all failures, reliable Internet egress, or production availability. Useful next tests include queue delay under load, dependency failures, restore exercises, and an evaluated incident dataset for analysis quality.</a:t>
            </a:r>
          </a:p>
          <a:p xmlns:a="http://schemas.openxmlformats.org/drawingml/2006/main">
            <a:r>
              <a:t/>
            </a:r>
          </a:p>
          <a:p xmlns:a="http://schemas.openxmlformats.org/drawingml/2006/main">
            <a:r>
              <a:t>Implementation source: https://github.com/manikantbindass/Tracehunt/blob/0f148d696d546a78c850bdffa3a55eb52c56ce6b/README.md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fictional scenario a payments deployment is recorded at minute 3. At minute 4, a five-minute error count reaches nine and creates a high incident. The worker gathers service logs and the nearby deployment. Suppose logs mention connection pool exhaustion: the heuristic may suggest connection pressure, while optional AI may organize the same evidence into an explanation. Neither proves that the release caused the issue.</a:t>
            </a:r>
          </a:p>
          <a:p xmlns:a="http://schemas.openxmlformats.org/drawingml/2006/main">
            <a:r>
              <a:t/>
            </a:r>
          </a:p>
          <a:p xmlns:a="http://schemas.openxmlformats.org/drawingml/2006/main">
            <a:r>
              <a:t>The engineer checks the real database pool, request behavior, release diff, and upstream dependencies. A mitigation happens outside the app at minute 7. Lower subsequent errors support recovery but do not close the incident automatically. The engineer checks monitor results, records the outcome, and resolves it. This scenario ties the synthetic graphs to a human investigation, without claiming a measured recovery time.</a:t>
            </a:r>
          </a:p>
          <a:p xmlns:a="http://schemas.openxmlformats.org/drawingml/2006/main">
            <a:r>
              <a:t/>
            </a:r>
          </a:p>
          <a:p xmlns:a="http://schemas.openxmlformats.org/drawingml/2006/main">
            <a:r>
              <a:t>Implementation source: https://github.com/manikantbindass/Tracehunt/blob/0f148d696d546a78c850bdffa3a55eb52c56ce6b/docs/architecture/system-design.md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listed extensions are roadmap ideas, not implemented features. Identity and role controls would improve accountability. Signed notification delivery and replay tooling would improve operations. Rollups and a search strategy would address growth beyond bounded scans. Worker health signals, queue-age metrics, restore tests, and load tests would make deployment limits measurable. OpenTelemetry ingestion and adaptive detection need new data models and evaluation.</a:t>
            </a:r>
          </a:p>
          <a:p xmlns:a="http://schemas.openxmlformats.org/drawingml/2006/main">
            <a:r>
              <a:t/>
            </a:r>
          </a:p>
          <a:p xmlns:a="http://schemas.openxmlformats.org/drawingml/2006/main">
            <a:r>
              <a:t>Start with README.md for setup, docs/architecture/system-design.md for semantics, docs/modules/api.md for endpoint contracts, docs/modules/operations.md for operations, and SECURITY.md for boundaries. Implementation references are pinned to revision 0f148d696d546a78c850bdffa3a55eb52c56ce6b. This documentation separates current behavior, illustrative scenarios, and future work so the project can be explained accurately to engineers, reviewers, and collaborators.</a:t>
            </a:r>
          </a:p>
          <a:p xmlns:a="http://schemas.openxmlformats.org/drawingml/2006/main">
            <a:r>
              <a:t/>
            </a:r>
          </a:p>
          <a:p xmlns:a="http://schemas.openxmlformats.org/drawingml/2006/main">
            <a:r>
              <a:t>Implementation source: https://github.com/manikantbindass/Tracehunt/blob/0f148d696d546a78c850bdffa3a55eb52c56ce6b/README.md</a:t>
            </a:r>
          </a:p>
          <a:p xmlns:a="http://schemas.openxmlformats.org/drawingml/2006/main">
            <a:r>
              <a:t>Graph data, where present: invented instructional scenario; not measured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17306cf3824b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cfef6bbfd241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76c203f99e44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a6c6e7dd5942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d6828c7c3b4a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242beaa3b34f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181C31-F3D2-4703-A463-23606A5C2B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5E5331-806F-42C3-8105-F7F15D1C7C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258CCE-B0A4-4219-81C2-473110C0A3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29B780-97CE-42DD-A1D0-7BBC57B49D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AB4C06-8B90-49D8-BF2F-C5FD3E8810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FB4347-F66C-45DD-BB34-A16CE455D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A9A225-02DC-4035-ACA6-A00BABB103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CF93D0-FDD5-4269-A4AB-C262434E7A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0E4F9A-1758-4646-88C9-57CAEC4A89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3737C-A6B6-432A-A2C3-9CB457DC1A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baae3bf0504ee4" /><Relationship Type="http://schemas.openxmlformats.org/officeDocument/2006/relationships/slideLayout" Target="/ppt/slideLayouts/slideLayout1.xml" Id="R7465b81883f2485e" /><Relationship Type="http://schemas.openxmlformats.org/officeDocument/2006/relationships/slideLayout" Target="/ppt/slideLayouts/slideLayout2.xml" Id="Rde1f55385413469f" /><Relationship Type="http://schemas.openxmlformats.org/officeDocument/2006/relationships/slideLayout" Target="/ppt/slideLayouts/slideLayout3.xml" Id="R2255c991f79942c3" /><Relationship Type="http://schemas.openxmlformats.org/officeDocument/2006/relationships/slideLayout" Target="/ppt/slideLayouts/slideLayout4.xml" Id="R8e0b8ab299d84e0a" /><Relationship Type="http://schemas.openxmlformats.org/officeDocument/2006/relationships/slideLayout" Target="/ppt/slideLayouts/slideLayout5.xml" Id="R39f1f5b9949d4e33" /><Relationship Type="http://schemas.openxmlformats.org/officeDocument/2006/relationships/slideLayout" Target="/ppt/slideLayouts/slideLayout6.xml" Id="Rd3f12ce0a5144b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65b81883f2485e"/>
    <p:sldLayoutId xmlns:r="http://schemas.openxmlformats.org/officeDocument/2006/relationships" id="2147483650" r:id="Rde1f55385413469f"/>
    <p:sldLayoutId xmlns:r="http://schemas.openxmlformats.org/officeDocument/2006/relationships" id="2147483651" r:id="R2255c991f79942c3"/>
    <p:sldLayoutId xmlns:r="http://schemas.openxmlformats.org/officeDocument/2006/relationships" id="2147483652" r:id="R8e0b8ab299d84e0a"/>
    <p:sldLayoutId xmlns:r="http://schemas.openxmlformats.org/officeDocument/2006/relationships" id="2147483653" r:id="R39f1f5b9949d4e33"/>
    <p:sldLayoutId xmlns:r="http://schemas.openxmlformats.org/officeDocument/2006/relationships" id="2147483654" r:id="Rd3f12ce0a5144b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bf1d53f36146d6" /><Relationship Type="http://schemas.openxmlformats.org/officeDocument/2006/relationships/notesSlide" Target="/ppt/notesSlides/notesSlide1.xml" Id="R9e1f6db3b29e43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573fedf79b491b" /><Relationship Type="http://schemas.openxmlformats.org/officeDocument/2006/relationships/notesSlide" Target="/ppt/notesSlides/notesSlide2.xml" Id="R52795206d1864f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2d141775264a98" /><Relationship Type="http://schemas.openxmlformats.org/officeDocument/2006/relationships/notesSlide" Target="/ppt/notesSlides/notesSlide3.xml" Id="Rdf2f0308479444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f937ef99034d3e" /><Relationship Type="http://schemas.openxmlformats.org/officeDocument/2006/relationships/notesSlide" Target="/ppt/notesSlides/notesSlide4.xml" Id="R5b22327bfec94f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bdd05ad9e14672" /><Relationship Type="http://schemas.openxmlformats.org/officeDocument/2006/relationships/notesSlide" Target="/ppt/notesSlides/notesSlide5.xml" Id="R1d2f33f4038c42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6cc8b2157f4eaa" /><Relationship Type="http://schemas.openxmlformats.org/officeDocument/2006/relationships/notesSlide" Target="/ppt/notesSlides/notesSlide6.xml" Id="R12a03003069540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cc23a00bae4ec2" /><Relationship Type="http://schemas.openxmlformats.org/officeDocument/2006/relationships/notesSlide" Target="/ppt/notesSlides/notesSlide7.xml" Id="Rd659698661b341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903f3d7a3942e3" /><Relationship Type="http://schemas.openxmlformats.org/officeDocument/2006/relationships/notesSlide" Target="/ppt/notesSlides/notesSlide8.xml" Id="R199116ac464244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fe4bbaf8db43b0" /><Relationship Type="http://schemas.openxmlformats.org/officeDocument/2006/relationships/notesSlide" Target="/ppt/notesSlides/notesSlide9.xml" Id="R609ffc2db1de4e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11a8b5d2544bb2" /><Relationship Type="http://schemas.openxmlformats.org/officeDocument/2006/relationships/chart" Target="/ppt/slides/charts/chart1.xml" Id="Recc871bb67424e38" /><Relationship Type="http://schemas.openxmlformats.org/officeDocument/2006/relationships/notesSlide" Target="/ppt/notesSlides/notesSlide10.xml" Id="Rc2b22f369cb947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8726fbf1d8e4ceb" /><Relationship Type="http://schemas.openxmlformats.org/officeDocument/2006/relationships/chart" Target="/ppt/slides/charts/chart2.xml" Id="Rf56a7bde5d2a4332" /><Relationship Type="http://schemas.openxmlformats.org/officeDocument/2006/relationships/notesSlide" Target="/ppt/notesSlides/notesSlide11.xml" Id="R7ccc4280211147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6afcc280b24090" /><Relationship Type="http://schemas.openxmlformats.org/officeDocument/2006/relationships/notesSlide" Target="/ppt/notesSlides/notesSlide12.xml" Id="Ra60f16fdddf444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05529c54e0c487d" /><Relationship Type="http://schemas.openxmlformats.org/officeDocument/2006/relationships/notesSlide" Target="/ppt/notesSlides/notesSlide13.xml" Id="Recd86d1705e045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27ad77e026a4eb6" /><Relationship Type="http://schemas.openxmlformats.org/officeDocument/2006/relationships/notesSlide" Target="/ppt/notesSlides/notesSlide14.xml" Id="Rcec115a187644e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ceaa90629b4477" /><Relationship Type="http://schemas.openxmlformats.org/officeDocument/2006/relationships/notesSlide" Target="/ppt/notesSlides/notesSlide15.xml" Id="Re2fe0871f08f4b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4362fa47f50455b" /><Relationship Type="http://schemas.openxmlformats.org/officeDocument/2006/relationships/notesSlide" Target="/ppt/notesSlides/notesSlide16.xml" Id="Rcffa9766a74542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e4def4b535c400e" /><Relationship Type="http://schemas.openxmlformats.org/officeDocument/2006/relationships/notesSlide" Target="/ppt/notesSlides/notesSlide17.xml" Id="R166aca81c2ba44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a708724b484ba0" /><Relationship Type="http://schemas.openxmlformats.org/officeDocument/2006/relationships/notesSlide" Target="/ppt/notesSlides/notesSlide18.xml" Id="R1bc2c0867b644d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4e24f09196d46c9" /><Relationship Type="http://schemas.openxmlformats.org/officeDocument/2006/relationships/notesSlide" Target="/ppt/notesSlides/notesSlide19.xml" Id="R1ea874cc96e64b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6d1415a5094bca" /><Relationship Type="http://schemas.openxmlformats.org/officeDocument/2006/relationships/notesSlide" Target="/ppt/notesSlides/notesSlide20.xml" Id="Rb124b953128a49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9456cfd9ea4c67" /><Relationship Type="http://schemas.openxmlformats.org/officeDocument/2006/relationships/notesSlide" Target="/ppt/notesSlides/notesSlide21.xml" Id="R634233027f3d49b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6ecf82238324bec" /><Relationship Type="http://schemas.openxmlformats.org/officeDocument/2006/relationships/notesSlide" Target="/ppt/notesSlides/notesSlide22.xml" Id="R3f8a6950de134f6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9c9a68cbeef4a43" /><Relationship Type="http://schemas.openxmlformats.org/officeDocument/2006/relationships/notesSlide" Target="/ppt/notesSlides/notesSlide23.xml" Id="Rab8d7f2d0f614d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cad37f5b02649a2" /><Relationship Type="http://schemas.openxmlformats.org/officeDocument/2006/relationships/notesSlide" Target="/ppt/notesSlides/notesSlide24.xml" Id="R3349d1d9c22943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Errors / minute</c:v>
          </c:tx>
          <c:spPr>
            <a:ln xmlns:a="http://schemas.openxmlformats.org/drawingml/2006/main" w="28575">
              <a:solidFill>
                <a:srgbClr val="087F80"/>
              </a:solidFill>
            </a:ln>
          </c:spPr>
          <c:marker>
            <c:symbol val="none"/>
          </c:marker>
          <c:cat>
            <c:numRef>
              <c:f>'Chart Data'!$A$2:$A$13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Data'!$B$2:$B$13</c:f>
              <c:numCache>
                <c:formatCode>General</c:formatCode>
                <c:ptCount val="12"/>
                <c:pt idx="0">
                  <c:v>0</c:v>
                </c:pt>
                <c:pt idx="1">
                  <c:v>1</c:v>
                </c:pt>
                <c:pt idx="2">
                  <c:v>0</c:v>
                </c:pt>
                <c:pt idx="3">
                  <c:v>2</c:v>
                </c:pt>
                <c:pt idx="4">
                  <c:v>6</c:v>
                </c:pt>
                <c:pt idx="5">
                  <c:v>9</c:v>
                </c:pt>
                <c:pt idx="6">
                  <c:v>7</c:v>
                </c:pt>
                <c:pt idx="7">
                  <c:v>4</c:v>
                </c:pt>
                <c:pt idx="8">
                  <c:v>2</c:v>
                </c:pt>
                <c:pt idx="9">
                  <c:v>1</c:v>
                </c:pt>
                <c:pt idx="10">
                  <c:v>0</c:v>
                </c:pt>
                <c:pt idx="11">
                  <c:v>0</c:v>
                </c:pt>
              </c:numCache>
            </c:numRef>
          </c:val>
          <c:smooth val="0"/>
        </c:ser>
        <c:ser>
          <c:idx val="1"/>
          <c:order val="1"/>
          <c:tx>
            <c:v>Rolling 5-minute count</c:v>
          </c:tx>
          <c:spPr>
            <a:ln xmlns:a="http://schemas.openxmlformats.org/drawingml/2006/main" w="28575">
              <a:solidFill>
                <a:srgbClr val="7356B8"/>
              </a:solidFill>
            </a:ln>
          </c:spPr>
          <c:marker>
            <c:symbol val="none"/>
          </c:marker>
          <c:cat>
            <c:numRef>
              <c:f>'Chart Data'!$C$2:$C$13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Data'!$D$2:$D$13</c:f>
              <c:numCache>
                <c:formatCode>General</c:formatCode>
                <c:ptCount val="12"/>
                <c:pt idx="0">
                  <c:v>0</c:v>
                </c:pt>
                <c:pt idx="1">
                  <c:v>1</c:v>
                </c:pt>
                <c:pt idx="2">
                  <c:v>1</c:v>
                </c:pt>
                <c:pt idx="3">
                  <c:v>3</c:v>
                </c:pt>
                <c:pt idx="4">
                  <c:v>9</c:v>
                </c:pt>
                <c:pt idx="5">
                  <c:v>18</c:v>
                </c:pt>
                <c:pt idx="6">
                  <c:v>24</c:v>
                </c:pt>
                <c:pt idx="7">
                  <c:v>28</c:v>
                </c:pt>
                <c:pt idx="8">
                  <c:v>28</c:v>
                </c:pt>
                <c:pt idx="9">
                  <c:v>23</c:v>
                </c:pt>
                <c:pt idx="10">
                  <c:v>14</c:v>
                </c:pt>
                <c:pt idx="11">
                  <c:v>7</c:v>
                </c:pt>
              </c:numCache>
            </c:numRef>
          </c:val>
          <c:smooth val="0"/>
        </c:ser>
        <c:ser>
          <c:idx val="2"/>
          <c:order val="2"/>
          <c:tx>
            <c:v>Threshold 5</c:v>
          </c:tx>
          <c:spPr>
            <a:ln xmlns:a="http://schemas.openxmlformats.org/drawingml/2006/main" w="19050">
              <a:solidFill>
                <a:srgbClr val="CC5D3B"/>
              </a:solidFill>
            </a:ln>
          </c:spPr>
          <c:marker>
            <c:symbol val="none"/>
          </c:marker>
          <c:cat>
            <c:numRef>
              <c:f>'Chart Data'!$E$2:$E$13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Data'!$F$2:$F$13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Minute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DCE4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Error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A"/>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6F8FA"/>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Synthetic p95 (ms)</c:v>
          </c:tx>
          <c:spPr>
            <a:ln xmlns:a="http://schemas.openxmlformats.org/drawingml/2006/main" w="28575">
              <a:solidFill>
                <a:srgbClr val="087F80"/>
              </a:solidFill>
            </a:ln>
          </c:spPr>
          <c:marker>
            <c:symbol val="none"/>
          </c:marker>
          <c:cat>
            <c:numRef>
              <c:f>'Chart Data'!$A$2:$A$13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Data'!$B$2:$B$13</c:f>
              <c:numCache>
                <c:formatCode>General</c:formatCode>
                <c:ptCount val="12"/>
                <c:pt idx="0">
                  <c:v>110</c:v>
                </c:pt>
                <c:pt idx="1">
                  <c:v>115</c:v>
                </c:pt>
                <c:pt idx="2">
                  <c:v>118</c:v>
                </c:pt>
                <c:pt idx="3">
                  <c:v>150</c:v>
                </c:pt>
                <c:pt idx="4">
                  <c:v>420</c:v>
                </c:pt>
                <c:pt idx="5">
                  <c:v>790</c:v>
                </c:pt>
                <c:pt idx="6">
                  <c:v>880</c:v>
                </c:pt>
                <c:pt idx="7">
                  <c:v>720</c:v>
                </c:pt>
                <c:pt idx="8">
                  <c:v>410</c:v>
                </c:pt>
                <c:pt idx="9">
                  <c:v>200</c:v>
                </c:pt>
                <c:pt idx="10">
                  <c:v>135</c:v>
                </c:pt>
                <c:pt idx="11">
                  <c:v>120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Minute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CE4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Latency (ms)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A"/>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6F8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B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10607A-A124-4477-ADE1-B73F3B7B51E0}"/>
              </a:ext>
            </a:extLst>
          </p:cNvPr>
          <p:cNvSpPr>
            <a:spLocks xmlns:a="http://schemas.openxmlformats.org/drawingml/2006/main" noGrp="1"/>
          </p:cNvSpPr>
          <p:nvPr/>
        </p:nvSpPr>
        <p:spPr>
          <a:xfrm xmlns:a="http://schemas.openxmlformats.org/drawingml/2006/main">
            <a:off x="66675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1">
                <a:solidFill>
                  <a:srgbClr val="62D6C5"/>
                </a:solidFill>
                <a:latin typeface="Arial"/>
                <a:ea typeface="Arial"/>
                <a:cs typeface="Arial"/>
              </a:defRPr>
            </a:defPPr>
            <a:lvl1pPr>
              <a:defRPr sz="1650" b="1">
                <a:solidFill>
                  <a:srgbClr val="62D6C5"/>
                </a:solidFill>
                <a:latin typeface="Arial"/>
                <a:ea typeface="Arial"/>
                <a:cs typeface="Arial"/>
              </a:defRPr>
            </a:lvl1pPr>
            <a:lvl2pPr>
              <a:defRPr sz="1650" b="1">
                <a:solidFill>
                  <a:srgbClr val="62D6C5"/>
                </a:solidFill>
                <a:latin typeface="Arial"/>
                <a:ea typeface="Arial"/>
                <a:cs typeface="Arial"/>
              </a:defRPr>
            </a:lvl2pPr>
            <a:lvl3pPr>
              <a:defRPr sz="1650" b="1">
                <a:solidFill>
                  <a:srgbClr val="62D6C5"/>
                </a:solidFill>
                <a:latin typeface="Arial"/>
                <a:ea typeface="Arial"/>
                <a:cs typeface="Arial"/>
              </a:defRPr>
            </a:lvl3pPr>
            <a:lvl4pPr>
              <a:defRPr sz="1650" b="1">
                <a:solidFill>
                  <a:srgbClr val="62D6C5"/>
                </a:solidFill>
                <a:latin typeface="Arial"/>
                <a:ea typeface="Arial"/>
                <a:cs typeface="Arial"/>
              </a:defRPr>
            </a:lvl4pPr>
            <a:lvl5pPr>
              <a:defRPr sz="1650" b="1">
                <a:solidFill>
                  <a:srgbClr val="62D6C5"/>
                </a:solidFill>
                <a:latin typeface="Arial"/>
                <a:ea typeface="Arial"/>
                <a:cs typeface="Arial"/>
              </a:defRPr>
            </a:lvl5pPr>
            <a:lvl6pPr>
              <a:defRPr sz="1650" b="1">
                <a:solidFill>
                  <a:srgbClr val="62D6C5"/>
                </a:solidFill>
                <a:latin typeface="Arial"/>
                <a:ea typeface="Arial"/>
                <a:cs typeface="Arial"/>
              </a:defRPr>
            </a:lvl6pPr>
            <a:lvl7pPr>
              <a:defRPr sz="1650" b="1">
                <a:solidFill>
                  <a:srgbClr val="62D6C5"/>
                </a:solidFill>
                <a:latin typeface="Arial"/>
                <a:ea typeface="Arial"/>
                <a:cs typeface="Arial"/>
              </a:defRPr>
            </a:lvl7pPr>
            <a:lvl8pPr>
              <a:defRPr sz="1650" b="1">
                <a:solidFill>
                  <a:srgbClr val="62D6C5"/>
                </a:solidFill>
                <a:latin typeface="Arial"/>
                <a:ea typeface="Arial"/>
                <a:cs typeface="Arial"/>
              </a:defRPr>
            </a:lvl8pPr>
            <a:lvl9pPr>
              <a:defRPr sz="1650" b="1">
                <a:solidFill>
                  <a:srgbClr val="62D6C5"/>
                </a:solidFill>
                <a:latin typeface="Arial"/>
                <a:ea typeface="Arial"/>
                <a:cs typeface="Arial"/>
              </a:defRPr>
            </a:lvl9pPr>
          </a:lstStyle>
          <a:p xmlns:a="http://schemas.openxmlformats.org/drawingml/2006/main">
            <a:pPr>
              <a:defRPr sz="1650" b="1">
                <a:solidFill>
                  <a:srgbClr val="62D6C5"/>
                </a:solidFill>
                <a:latin typeface="Arial"/>
                <a:ea typeface="Arial"/>
                <a:cs typeface="Arial"/>
              </a:defRPr>
            </a:pPr>
            <a:r>
              <a:rPr sz="1650" b="1">
                <a:solidFill>
                  <a:srgbClr val="62D6C5"/>
                </a:solidFill>
                <a:latin typeface="Arial"/>
                <a:ea typeface="Arial"/>
                <a:cs typeface="Arial"/>
              </a:rPr>
              <a:t>TRACEHUNT / PROJECT EXPLAINED</a:t>
            </a:r>
          </a:p>
        </p:txBody>
      </p:sp>
      <p:sp>
        <p:nvSpPr>
          <p:cNvPr id="2" name="">
            <a:extLst xmlns:a="http://schemas.openxmlformats.org/drawingml/2006/main">
              <a:ext uri="{FF2B5EF4-FFF2-40B4-BE49-F238E27FC236}">
                <a16:creationId xmlns:a16="http://schemas.microsoft.com/office/drawing/2014/main" id="{2E9DF360-030C-4C76-A141-F57AB5EDCAA4}"/>
              </a:ext>
            </a:extLst>
          </p:cNvPr>
          <p:cNvSpPr>
            <a:spLocks xmlns:a="http://schemas.openxmlformats.org/drawingml/2006/main" noGrp="1"/>
          </p:cNvSpPr>
          <p:nvPr/>
        </p:nvSpPr>
        <p:spPr>
          <a:xfrm xmlns:a="http://schemas.openxmlformats.org/drawingml/2006/main">
            <a:off x="666750" y="1762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TraceHunt AI</a:t>
            </a:r>
          </a:p>
        </p:txBody>
      </p:sp>
      <p:sp>
        <p:nvSpPr>
          <p:cNvPr id="3" name="">
            <a:extLst xmlns:a="http://schemas.openxmlformats.org/drawingml/2006/main">
              <a:ext uri="{FF2B5EF4-FFF2-40B4-BE49-F238E27FC236}">
                <a16:creationId xmlns:a16="http://schemas.microsoft.com/office/drawing/2014/main" id="{459B6A22-65F9-4577-83A5-E91B7DF7B0BA}"/>
              </a:ext>
            </a:extLst>
          </p:cNvPr>
          <p:cNvSpPr>
            <a:spLocks xmlns:a="http://schemas.openxmlformats.org/drawingml/2006/main" noGrp="1"/>
          </p:cNvSpPr>
          <p:nvPr/>
        </p:nvSpPr>
        <p:spPr>
          <a:xfrm xmlns:a="http://schemas.openxmlformats.org/drawingml/2006/main">
            <a:off x="666750" y="3000375"/>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00" b="0">
                <a:solidFill>
                  <a:srgbClr val="E2F0EF"/>
                </a:solidFill>
                <a:latin typeface="Arial"/>
                <a:ea typeface="Arial"/>
                <a:cs typeface="Arial"/>
              </a:defRPr>
            </a:defPPr>
            <a:lvl1pPr>
              <a:defRPr sz="2700" b="0">
                <a:solidFill>
                  <a:srgbClr val="E2F0EF"/>
                </a:solidFill>
                <a:latin typeface="Arial"/>
                <a:ea typeface="Arial"/>
                <a:cs typeface="Arial"/>
              </a:defRPr>
            </a:lvl1pPr>
            <a:lvl2pPr>
              <a:defRPr sz="2700" b="0">
                <a:solidFill>
                  <a:srgbClr val="E2F0EF"/>
                </a:solidFill>
                <a:latin typeface="Arial"/>
                <a:ea typeface="Arial"/>
                <a:cs typeface="Arial"/>
              </a:defRPr>
            </a:lvl2pPr>
            <a:lvl3pPr>
              <a:defRPr sz="2700" b="0">
                <a:solidFill>
                  <a:srgbClr val="E2F0EF"/>
                </a:solidFill>
                <a:latin typeface="Arial"/>
                <a:ea typeface="Arial"/>
                <a:cs typeface="Arial"/>
              </a:defRPr>
            </a:lvl3pPr>
            <a:lvl4pPr>
              <a:defRPr sz="2700" b="0">
                <a:solidFill>
                  <a:srgbClr val="E2F0EF"/>
                </a:solidFill>
                <a:latin typeface="Arial"/>
                <a:ea typeface="Arial"/>
                <a:cs typeface="Arial"/>
              </a:defRPr>
            </a:lvl4pPr>
            <a:lvl5pPr>
              <a:defRPr sz="2700" b="0">
                <a:solidFill>
                  <a:srgbClr val="E2F0EF"/>
                </a:solidFill>
                <a:latin typeface="Arial"/>
                <a:ea typeface="Arial"/>
                <a:cs typeface="Arial"/>
              </a:defRPr>
            </a:lvl5pPr>
            <a:lvl6pPr>
              <a:defRPr sz="2700" b="0">
                <a:solidFill>
                  <a:srgbClr val="E2F0EF"/>
                </a:solidFill>
                <a:latin typeface="Arial"/>
                <a:ea typeface="Arial"/>
                <a:cs typeface="Arial"/>
              </a:defRPr>
            </a:lvl6pPr>
            <a:lvl7pPr>
              <a:defRPr sz="2700" b="0">
                <a:solidFill>
                  <a:srgbClr val="E2F0EF"/>
                </a:solidFill>
                <a:latin typeface="Arial"/>
                <a:ea typeface="Arial"/>
                <a:cs typeface="Arial"/>
              </a:defRPr>
            </a:lvl7pPr>
            <a:lvl8pPr>
              <a:defRPr sz="2700" b="0">
                <a:solidFill>
                  <a:srgbClr val="E2F0EF"/>
                </a:solidFill>
                <a:latin typeface="Arial"/>
                <a:ea typeface="Arial"/>
                <a:cs typeface="Arial"/>
              </a:defRPr>
            </a:lvl8pPr>
            <a:lvl9pPr>
              <a:defRPr sz="2700" b="0">
                <a:solidFill>
                  <a:srgbClr val="E2F0EF"/>
                </a:solidFill>
                <a:latin typeface="Arial"/>
                <a:ea typeface="Arial"/>
                <a:cs typeface="Arial"/>
              </a:defRPr>
            </a:lvl9pPr>
          </a:lstStyle>
          <a:p xmlns:a="http://schemas.openxmlformats.org/drawingml/2006/main">
            <a:pPr>
              <a:defRPr sz="2700" b="0">
                <a:solidFill>
                  <a:srgbClr val="E2F0EF"/>
                </a:solidFill>
                <a:latin typeface="Arial"/>
                <a:ea typeface="Arial"/>
                <a:cs typeface="Arial"/>
              </a:defRPr>
            </a:pPr>
            <a:r>
              <a:rPr sz="2700" b="0">
                <a:solidFill>
                  <a:srgbClr val="E2F0EF"/>
                </a:solidFill>
                <a:latin typeface="Arial"/>
                <a:ea typeface="Arial"/>
                <a:cs typeface="Arial"/>
              </a:rPr>
              <a:t>From scattered signals to a reviewable incident investigation</a:t>
            </a:r>
          </a:p>
        </p:txBody>
      </p:sp>
      <p:sp>
        <p:nvSpPr>
          <p:cNvPr id="4" name="">
            <a:extLst xmlns:a="http://schemas.openxmlformats.org/drawingml/2006/main">
              <a:ext uri="{FF2B5EF4-FFF2-40B4-BE49-F238E27FC236}">
                <a16:creationId xmlns:a16="http://schemas.microsoft.com/office/drawing/2014/main" id="{AE931FDA-1164-445C-B132-EE4F94B1557C}"/>
              </a:ext>
            </a:extLst>
          </p:cNvPr>
          <p:cNvSpPr>
            <a:spLocks xmlns:a="http://schemas.openxmlformats.org/drawingml/2006/main" noGrp="1"/>
          </p:cNvSpPr>
          <p:nvPr/>
        </p:nvSpPr>
        <p:spPr>
          <a:xfrm xmlns:a="http://schemas.openxmlformats.org/drawingml/2006/main">
            <a:off x="666750" y="4619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Architecture, incident intelligence, and operations</a:t>
            </a:r>
          </a:p>
        </p:txBody>
      </p:sp>
      <p:sp>
        <p:nvSpPr>
          <p:cNvPr id="5" name="">
            <a:extLst xmlns:a="http://schemas.openxmlformats.org/drawingml/2006/main">
              <a:ext uri="{FF2B5EF4-FFF2-40B4-BE49-F238E27FC236}">
                <a16:creationId xmlns:a16="http://schemas.microsoft.com/office/drawing/2014/main" id="{32B62EAD-0842-4916-B1F7-EDA95DCA874F}"/>
              </a:ext>
            </a:extLst>
          </p:cNvPr>
          <p:cNvSpPr>
            <a:spLocks xmlns:a="http://schemas.openxmlformats.org/drawingml/2006/main" noGrp="1"/>
          </p:cNvSpPr>
          <p:nvPr/>
        </p:nvSpPr>
        <p:spPr>
          <a:xfrm xmlns:a="http://schemas.openxmlformats.org/drawingml/2006/main">
            <a:off x="66675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AABDC6"/>
                </a:solidFill>
                <a:latin typeface="Arial"/>
                <a:ea typeface="Arial"/>
                <a:cs typeface="Arial"/>
              </a:defRPr>
            </a:defPPr>
            <a:lvl1pPr>
              <a:defRPr sz="1500" b="0">
                <a:solidFill>
                  <a:srgbClr val="AABDC6"/>
                </a:solidFill>
                <a:latin typeface="Arial"/>
                <a:ea typeface="Arial"/>
                <a:cs typeface="Arial"/>
              </a:defRPr>
            </a:lvl1pPr>
            <a:lvl2pPr>
              <a:defRPr sz="1500" b="0">
                <a:solidFill>
                  <a:srgbClr val="AABDC6"/>
                </a:solidFill>
                <a:latin typeface="Arial"/>
                <a:ea typeface="Arial"/>
                <a:cs typeface="Arial"/>
              </a:defRPr>
            </a:lvl2pPr>
            <a:lvl3pPr>
              <a:defRPr sz="1500" b="0">
                <a:solidFill>
                  <a:srgbClr val="AABDC6"/>
                </a:solidFill>
                <a:latin typeface="Arial"/>
                <a:ea typeface="Arial"/>
                <a:cs typeface="Arial"/>
              </a:defRPr>
            </a:lvl3pPr>
            <a:lvl4pPr>
              <a:defRPr sz="1500" b="0">
                <a:solidFill>
                  <a:srgbClr val="AABDC6"/>
                </a:solidFill>
                <a:latin typeface="Arial"/>
                <a:ea typeface="Arial"/>
                <a:cs typeface="Arial"/>
              </a:defRPr>
            </a:lvl4pPr>
            <a:lvl5pPr>
              <a:defRPr sz="1500" b="0">
                <a:solidFill>
                  <a:srgbClr val="AABDC6"/>
                </a:solidFill>
                <a:latin typeface="Arial"/>
                <a:ea typeface="Arial"/>
                <a:cs typeface="Arial"/>
              </a:defRPr>
            </a:lvl5pPr>
            <a:lvl6pPr>
              <a:defRPr sz="1500" b="0">
                <a:solidFill>
                  <a:srgbClr val="AABDC6"/>
                </a:solidFill>
                <a:latin typeface="Arial"/>
                <a:ea typeface="Arial"/>
                <a:cs typeface="Arial"/>
              </a:defRPr>
            </a:lvl6pPr>
            <a:lvl7pPr>
              <a:defRPr sz="1500" b="0">
                <a:solidFill>
                  <a:srgbClr val="AABDC6"/>
                </a:solidFill>
                <a:latin typeface="Arial"/>
                <a:ea typeface="Arial"/>
                <a:cs typeface="Arial"/>
              </a:defRPr>
            </a:lvl7pPr>
            <a:lvl8pPr>
              <a:defRPr sz="1500" b="0">
                <a:solidFill>
                  <a:srgbClr val="AABDC6"/>
                </a:solidFill>
                <a:latin typeface="Arial"/>
                <a:ea typeface="Arial"/>
                <a:cs typeface="Arial"/>
              </a:defRPr>
            </a:lvl8pPr>
            <a:lvl9pPr>
              <a:defRPr sz="1500" b="0">
                <a:solidFill>
                  <a:srgbClr val="AABDC6"/>
                </a:solidFill>
                <a:latin typeface="Arial"/>
                <a:ea typeface="Arial"/>
                <a:cs typeface="Arial"/>
              </a:defRPr>
            </a:lvl9pPr>
          </a:lstStyle>
          <a:p xmlns:a="http://schemas.openxmlformats.org/drawingml/2006/main">
            <a:pPr>
              <a:defRPr sz="1500" b="0">
                <a:solidFill>
                  <a:srgbClr val="AABDC6"/>
                </a:solidFill>
                <a:latin typeface="Arial"/>
                <a:ea typeface="Arial"/>
                <a:cs typeface="Arial"/>
              </a:defRPr>
            </a:pPr>
            <a:r>
              <a:rPr sz="1500" b="0">
                <a:solidFill>
                  <a:srgbClr val="AABDC6"/>
                </a:solidFill>
                <a:latin typeface="Arial"/>
                <a:ea typeface="Arial"/>
                <a:cs typeface="Arial"/>
              </a:rPr>
              <a:t>Source snapshot 0f148d6  /  23 October 2026</a:t>
            </a:r>
          </a:p>
        </p:txBody>
      </p:sp>
    </p:spTree>
    <p:extLst>
      <p:ext uri="{BB962C8B-B14F-4D97-AF65-F5344CB8AC3E}">
        <p14:creationId xmlns:p14="http://schemas.microsoft.com/office/powerpoint/2010/main" val="206422523"/>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25389D-273E-4406-B9C5-8AECA2B31242}"/>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02</a:t>
            </a:r>
          </a:p>
        </p:txBody>
      </p:sp>
      <p:sp>
        <p:nvSpPr>
          <p:cNvPr id="2" name="">
            <a:extLst xmlns:a="http://schemas.openxmlformats.org/drawingml/2006/main">
              <a:ext uri="{FF2B5EF4-FFF2-40B4-BE49-F238E27FC236}">
                <a16:creationId xmlns:a16="http://schemas.microsoft.com/office/drawing/2014/main" id="{1C590709-11B3-4E4F-8B67-28432ADD140C}"/>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The problem it solves</a:t>
            </a:r>
          </a:p>
        </p:txBody>
      </p:sp>
      <p:sp>
        <p:nvSpPr>
          <p:cNvPr id="3" name="">
            <a:extLst xmlns:a="http://schemas.openxmlformats.org/drawingml/2006/main">
              <a:ext uri="{FF2B5EF4-FFF2-40B4-BE49-F238E27FC236}">
                <a16:creationId xmlns:a16="http://schemas.microsoft.com/office/drawing/2014/main" id="{1732792B-751F-4AA5-AA0D-50F788E242CE}"/>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Engineers need context, not just another error notification</a:t>
            </a:r>
          </a:p>
        </p:txBody>
      </p:sp>
      <p:sp>
        <p:nvSpPr>
          <p:cNvPr id="4" name="">
            <a:extLst xmlns:a="http://schemas.openxmlformats.org/drawingml/2006/main">
              <a:ext uri="{FF2B5EF4-FFF2-40B4-BE49-F238E27FC236}">
                <a16:creationId xmlns:a16="http://schemas.microsoft.com/office/drawing/2014/main" id="{BB4DBE20-3871-4B9C-934B-D5FEE64B589A}"/>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E1663B9-37E4-45B2-AE89-C08B3AC12A58}"/>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Health checks show symptoms but little explanation</a:t>
            </a:r>
          </a:p>
        </p:txBody>
      </p:sp>
      <p:sp>
        <p:nvSpPr>
          <p:cNvPr id="6" name="">
            <a:extLst xmlns:a="http://schemas.openxmlformats.org/drawingml/2006/main">
              <a:ext uri="{FF2B5EF4-FFF2-40B4-BE49-F238E27FC236}">
                <a16:creationId xmlns:a16="http://schemas.microsoft.com/office/drawing/2014/main" id="{099C709D-3842-4684-928A-1E7D5DB99E81}"/>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6EB2D48-BDE2-4B90-BFAD-1992094820FB}"/>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Logs and release history often live in separate places</a:t>
            </a:r>
          </a:p>
        </p:txBody>
      </p:sp>
      <p:sp>
        <p:nvSpPr>
          <p:cNvPr id="8" name="">
            <a:extLst xmlns:a="http://schemas.openxmlformats.org/drawingml/2006/main">
              <a:ext uri="{FF2B5EF4-FFF2-40B4-BE49-F238E27FC236}">
                <a16:creationId xmlns:a16="http://schemas.microsoft.com/office/drawing/2014/main" id="{5159A217-D4C1-4511-9182-3FBD87ED9F02}"/>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E338318-37A1-464B-AAFB-8B4C466DC61A}"/>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Repeated failures create noise during investigation</a:t>
            </a:r>
          </a:p>
        </p:txBody>
      </p:sp>
      <p:sp>
        <p:nvSpPr>
          <p:cNvPr id="10" name="">
            <a:extLst xmlns:a="http://schemas.openxmlformats.org/drawingml/2006/main">
              <a:ext uri="{FF2B5EF4-FFF2-40B4-BE49-F238E27FC236}">
                <a16:creationId xmlns:a16="http://schemas.microsoft.com/office/drawing/2014/main" id="{B97588D1-D8AA-4319-8AAB-C9859162BDE4}"/>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AEF21E78-14D8-4362-8F56-42C1C4597C85}"/>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02</a:t>
            </a:r>
          </a:p>
        </p:txBody>
      </p:sp>
    </p:spTree>
    <p:extLst>
      <p:ext uri="{BB962C8B-B14F-4D97-AF65-F5344CB8AC3E}">
        <p14:creationId xmlns:p14="http://schemas.microsoft.com/office/powerpoint/2010/main" val="1082643798"/>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C24FD4-577E-464E-9CDA-4376CEA086CA}"/>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03</a:t>
            </a:r>
          </a:p>
        </p:txBody>
      </p:sp>
      <p:sp>
        <p:nvSpPr>
          <p:cNvPr id="2" name="">
            <a:extLst xmlns:a="http://schemas.openxmlformats.org/drawingml/2006/main">
              <a:ext uri="{FF2B5EF4-FFF2-40B4-BE49-F238E27FC236}">
                <a16:creationId xmlns:a16="http://schemas.microsoft.com/office/drawing/2014/main" id="{FE6BB1D5-2A09-4D28-A973-AC1B2D11956A}"/>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Who uses it and why</a:t>
            </a:r>
          </a:p>
        </p:txBody>
      </p:sp>
      <p:sp>
        <p:nvSpPr>
          <p:cNvPr id="3" name="">
            <a:extLst xmlns:a="http://schemas.openxmlformats.org/drawingml/2006/main">
              <a:ext uri="{FF2B5EF4-FFF2-40B4-BE49-F238E27FC236}">
                <a16:creationId xmlns:a16="http://schemas.microsoft.com/office/drawing/2014/main" id="{2B9CFE74-1EA9-4666-98E4-818F7F10E2B1}"/>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 shared investigation surface for a small engineering team</a:t>
            </a:r>
          </a:p>
        </p:txBody>
      </p:sp>
      <p:sp>
        <p:nvSpPr>
          <p:cNvPr id="4" name="">
            <a:extLst xmlns:a="http://schemas.openxmlformats.org/drawingml/2006/main">
              <a:ext uri="{FF2B5EF4-FFF2-40B4-BE49-F238E27FC236}">
                <a16:creationId xmlns:a16="http://schemas.microsoft.com/office/drawing/2014/main" id="{9FCE83D7-CAF8-4006-A3D4-82EBA5A72261}"/>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E702850-8FF1-4555-A894-FD90285879C3}"/>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On-call engineers triage active incidents</a:t>
            </a:r>
          </a:p>
        </p:txBody>
      </p:sp>
      <p:sp>
        <p:nvSpPr>
          <p:cNvPr id="6" name="">
            <a:extLst xmlns:a="http://schemas.openxmlformats.org/drawingml/2006/main">
              <a:ext uri="{FF2B5EF4-FFF2-40B4-BE49-F238E27FC236}">
                <a16:creationId xmlns:a16="http://schemas.microsoft.com/office/drawing/2014/main" id="{D16383F9-F475-45DC-9FDD-115F01A991DC}"/>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E558DA2-A7E1-4BBB-9645-37BDD46ECF83}"/>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Backend engineers search service errors and trace IDs</a:t>
            </a:r>
          </a:p>
        </p:txBody>
      </p:sp>
      <p:sp>
        <p:nvSpPr>
          <p:cNvPr id="8" name="">
            <a:extLst xmlns:a="http://schemas.openxmlformats.org/drawingml/2006/main">
              <a:ext uri="{FF2B5EF4-FFF2-40B4-BE49-F238E27FC236}">
                <a16:creationId xmlns:a16="http://schemas.microsoft.com/office/drawing/2014/main" id="{3C806D37-8952-4A61-B781-B54782DD525A}"/>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CEE6CC1B-0DE5-4159-8F61-47CDD14C0138}"/>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Release owners compare failures with deployment history</a:t>
            </a:r>
          </a:p>
        </p:txBody>
      </p:sp>
      <p:sp>
        <p:nvSpPr>
          <p:cNvPr id="10" name="">
            <a:extLst xmlns:a="http://schemas.openxmlformats.org/drawingml/2006/main">
              <a:ext uri="{FF2B5EF4-FFF2-40B4-BE49-F238E27FC236}">
                <a16:creationId xmlns:a16="http://schemas.microsoft.com/office/drawing/2014/main" id="{30F759A9-F323-4E0A-ADF5-BDB4D4F8A3C2}"/>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85D1B63A-0BD7-45A6-B3EC-1A2E7E846FA4}"/>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03</a:t>
            </a:r>
          </a:p>
        </p:txBody>
      </p:sp>
    </p:spTree>
    <p:extLst>
      <p:ext uri="{BB962C8B-B14F-4D97-AF65-F5344CB8AC3E}">
        <p14:creationId xmlns:p14="http://schemas.microsoft.com/office/powerpoint/2010/main" val="819408631"/>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834E8804-C044-4812-B0A5-3A71273C5888}"/>
              </a:ext>
            </a:extLst>
          </p:cNvPr>
          <p:cNvCxnSpPr>
            <a:stCxn xmlns:a="http://schemas.openxmlformats.org/drawingml/2006/main" id="9" idx="3"/>
            <a:endCxn xmlns:a="http://schemas.openxmlformats.org/drawingml/2006/main" id="11" idx="1"/>
          </p:cNvCxnSpPr>
          <p:nvPr/>
        </p:nvCxnSpPr>
        <p:spPr>
          <a:xfrm xmlns:a="http://schemas.openxmlformats.org/drawingml/2006/main">
            <a:off x="933069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10" name="">
            <a:extLst xmlns:a="http://schemas.openxmlformats.org/drawingml/2006/main">
              <a:ext uri="{FF2B5EF4-FFF2-40B4-BE49-F238E27FC236}">
                <a16:creationId xmlns:a16="http://schemas.microsoft.com/office/drawing/2014/main" id="{62ABD1A7-924B-4B3B-B9D1-E3CCF3BD49F6}"/>
              </a:ext>
            </a:extLst>
          </p:cNvPr>
          <p:cNvCxnSpPr>
            <a:stCxn xmlns:a="http://schemas.openxmlformats.org/drawingml/2006/main" id="7" idx="3"/>
            <a:endCxn xmlns:a="http://schemas.openxmlformats.org/drawingml/2006/main" id="9" idx="1"/>
          </p:cNvCxnSpPr>
          <p:nvPr/>
        </p:nvCxnSpPr>
        <p:spPr>
          <a:xfrm xmlns:a="http://schemas.openxmlformats.org/drawingml/2006/main">
            <a:off x="707898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1E495F50-3175-4478-B776-30333CBF3FB4}"/>
              </a:ext>
            </a:extLst>
          </p:cNvPr>
          <p:cNvCxnSpPr>
            <a:stCxn xmlns:a="http://schemas.openxmlformats.org/drawingml/2006/main" id="5" idx="3"/>
            <a:endCxn xmlns:a="http://schemas.openxmlformats.org/drawingml/2006/main" id="7" idx="1"/>
          </p:cNvCxnSpPr>
          <p:nvPr/>
        </p:nvCxnSpPr>
        <p:spPr>
          <a:xfrm xmlns:a="http://schemas.openxmlformats.org/drawingml/2006/main">
            <a:off x="482727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6" name="">
            <a:extLst xmlns:a="http://schemas.openxmlformats.org/drawingml/2006/main">
              <a:ext uri="{FF2B5EF4-FFF2-40B4-BE49-F238E27FC236}">
                <a16:creationId xmlns:a16="http://schemas.microsoft.com/office/drawing/2014/main" id="{73830886-896F-49D6-A21D-FFF3F19C3B2D}"/>
              </a:ext>
            </a:extLst>
          </p:cNvPr>
          <p:cNvCxnSpPr>
            <a:stCxn xmlns:a="http://schemas.openxmlformats.org/drawingml/2006/main" id="4" idx="3"/>
            <a:endCxn xmlns:a="http://schemas.openxmlformats.org/drawingml/2006/main" id="5" idx="1"/>
          </p:cNvCxnSpPr>
          <p:nvPr/>
        </p:nvCxnSpPr>
        <p:spPr>
          <a:xfrm xmlns:a="http://schemas.openxmlformats.org/drawingml/2006/main">
            <a:off x="257556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6" name="">
            <a:extLst xmlns:a="http://schemas.openxmlformats.org/drawingml/2006/main">
              <a:ext uri="{FF2B5EF4-FFF2-40B4-BE49-F238E27FC236}">
                <a16:creationId xmlns:a16="http://schemas.microsoft.com/office/drawing/2014/main" id="{7EDA23CE-0298-478C-A535-93D61EBC6BEC}"/>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04</a:t>
            </a:r>
          </a:p>
        </p:txBody>
      </p:sp>
      <p:sp>
        <p:nvSpPr>
          <p:cNvPr id="2" name="">
            <a:extLst xmlns:a="http://schemas.openxmlformats.org/drawingml/2006/main">
              <a:ext uri="{FF2B5EF4-FFF2-40B4-BE49-F238E27FC236}">
                <a16:creationId xmlns:a16="http://schemas.microsoft.com/office/drawing/2014/main" id="{B48EB1BD-C5AF-4059-A0E2-D9334DB55031}"/>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The operating loop</a:t>
            </a:r>
          </a:p>
        </p:txBody>
      </p:sp>
      <p:sp>
        <p:nvSpPr>
          <p:cNvPr id="3" name="">
            <a:extLst xmlns:a="http://schemas.openxmlformats.org/drawingml/2006/main">
              <a:ext uri="{FF2B5EF4-FFF2-40B4-BE49-F238E27FC236}">
                <a16:creationId xmlns:a16="http://schemas.microsoft.com/office/drawing/2014/main" id="{823F48EC-6657-47C2-BD70-A05557740942}"/>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Collect, detect, investigate, act, and record the outcome</a:t>
            </a:r>
          </a:p>
        </p:txBody>
      </p:sp>
      <p:sp>
        <p:nvSpPr>
          <p:cNvPr id="4" name="">
            <a:extLst xmlns:a="http://schemas.openxmlformats.org/drawingml/2006/main">
              <a:ext uri="{FF2B5EF4-FFF2-40B4-BE49-F238E27FC236}">
                <a16:creationId xmlns:a16="http://schemas.microsoft.com/office/drawing/2014/main" id="{17253529-7009-4181-A034-51D03F8B3051}"/>
              </a:ext>
            </a:extLst>
          </p:cNvPr>
          <p:cNvSpPr>
            <a:spLocks xmlns:a="http://schemas.openxmlformats.org/drawingml/2006/main" noGrp="1"/>
          </p:cNvSpPr>
          <p:nvPr/>
        </p:nvSpPr>
        <p:spPr>
          <a:xfrm xmlns:a="http://schemas.openxmlformats.org/drawingml/2006/main">
            <a:off x="60960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Collect</a:t>
            </a:r>
          </a:p>
        </p:txBody>
      </p:sp>
      <p:sp>
        <p:nvSpPr>
          <p:cNvPr id="5" name="">
            <a:extLst xmlns:a="http://schemas.openxmlformats.org/drawingml/2006/main">
              <a:ext uri="{FF2B5EF4-FFF2-40B4-BE49-F238E27FC236}">
                <a16:creationId xmlns:a16="http://schemas.microsoft.com/office/drawing/2014/main" id="{02060295-0505-47B1-ACF3-D308850F81AE}"/>
              </a:ext>
            </a:extLst>
          </p:cNvPr>
          <p:cNvSpPr>
            <a:spLocks xmlns:a="http://schemas.openxmlformats.org/drawingml/2006/main" noGrp="1"/>
          </p:cNvSpPr>
          <p:nvPr/>
        </p:nvSpPr>
        <p:spPr>
          <a:xfrm xmlns:a="http://schemas.openxmlformats.org/drawingml/2006/main">
            <a:off x="286131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Detect</a:t>
            </a:r>
          </a:p>
        </p:txBody>
      </p:sp>
      <p:sp>
        <p:nvSpPr>
          <p:cNvPr id="7" name="">
            <a:extLst xmlns:a="http://schemas.openxmlformats.org/drawingml/2006/main">
              <a:ext uri="{FF2B5EF4-FFF2-40B4-BE49-F238E27FC236}">
                <a16:creationId xmlns:a16="http://schemas.microsoft.com/office/drawing/2014/main" id="{19976DC9-DACC-4F4D-B6C0-BF2F113821AB}"/>
              </a:ext>
            </a:extLst>
          </p:cNvPr>
          <p:cNvSpPr>
            <a:spLocks xmlns:a="http://schemas.openxmlformats.org/drawingml/2006/main" noGrp="1"/>
          </p:cNvSpPr>
          <p:nvPr/>
        </p:nvSpPr>
        <p:spPr>
          <a:xfrm xmlns:a="http://schemas.openxmlformats.org/drawingml/2006/main">
            <a:off x="511302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Investigate</a:t>
            </a:r>
          </a:p>
        </p:txBody>
      </p:sp>
      <p:sp>
        <p:nvSpPr>
          <p:cNvPr id="9" name="">
            <a:extLst xmlns:a="http://schemas.openxmlformats.org/drawingml/2006/main">
              <a:ext uri="{FF2B5EF4-FFF2-40B4-BE49-F238E27FC236}">
                <a16:creationId xmlns:a16="http://schemas.microsoft.com/office/drawing/2014/main" id="{0F2962EA-01DF-40CD-98A6-82CE6FAF4FC9}"/>
              </a:ext>
            </a:extLst>
          </p:cNvPr>
          <p:cNvSpPr>
            <a:spLocks xmlns:a="http://schemas.openxmlformats.org/drawingml/2006/main" noGrp="1"/>
          </p:cNvSpPr>
          <p:nvPr/>
        </p:nvSpPr>
        <p:spPr>
          <a:xfrm xmlns:a="http://schemas.openxmlformats.org/drawingml/2006/main">
            <a:off x="736473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Act externally</a:t>
            </a:r>
          </a:p>
        </p:txBody>
      </p:sp>
      <p:sp>
        <p:nvSpPr>
          <p:cNvPr id="11" name="">
            <a:extLst xmlns:a="http://schemas.openxmlformats.org/drawingml/2006/main">
              <a:ext uri="{FF2B5EF4-FFF2-40B4-BE49-F238E27FC236}">
                <a16:creationId xmlns:a16="http://schemas.microsoft.com/office/drawing/2014/main" id="{60751ABD-DF94-43BC-8B02-634D04E182DC}"/>
              </a:ext>
            </a:extLst>
          </p:cNvPr>
          <p:cNvSpPr>
            <a:spLocks xmlns:a="http://schemas.openxmlformats.org/drawingml/2006/main" noGrp="1"/>
          </p:cNvSpPr>
          <p:nvPr/>
        </p:nvSpPr>
        <p:spPr>
          <a:xfrm xmlns:a="http://schemas.openxmlformats.org/drawingml/2006/main">
            <a:off x="961644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Resolve</a:t>
            </a:r>
          </a:p>
        </p:txBody>
      </p:sp>
      <p:sp>
        <p:nvSpPr>
          <p:cNvPr id="13" name="">
            <a:extLst xmlns:a="http://schemas.openxmlformats.org/drawingml/2006/main">
              <a:ext uri="{FF2B5EF4-FFF2-40B4-BE49-F238E27FC236}">
                <a16:creationId xmlns:a16="http://schemas.microsoft.com/office/drawing/2014/main" id="{CCA3E833-3172-4D4F-B240-B1C0668E90D8}"/>
              </a:ext>
            </a:extLst>
          </p:cNvPr>
          <p:cNvSpPr>
            <a:spLocks xmlns:a="http://schemas.openxmlformats.org/drawingml/2006/main" noGrp="1"/>
          </p:cNvSpPr>
          <p:nvPr/>
        </p:nvSpPr>
        <p:spPr>
          <a:xfrm xmlns:a="http://schemas.openxmlformats.org/drawingml/2006/main">
            <a:off x="609600" y="4000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22B3C"/>
                </a:solidFill>
                <a:latin typeface="Arial"/>
                <a:ea typeface="Arial"/>
                <a:cs typeface="Arial"/>
              </a:defRPr>
            </a:defPPr>
            <a:lvl1pPr>
              <a:defRPr sz="1875" b="0">
                <a:solidFill>
                  <a:srgbClr val="122B3C"/>
                </a:solidFill>
                <a:latin typeface="Arial"/>
                <a:ea typeface="Arial"/>
                <a:cs typeface="Arial"/>
              </a:defRPr>
            </a:lvl1pPr>
            <a:lvl2pPr>
              <a:defRPr sz="1875" b="0">
                <a:solidFill>
                  <a:srgbClr val="122B3C"/>
                </a:solidFill>
                <a:latin typeface="Arial"/>
                <a:ea typeface="Arial"/>
                <a:cs typeface="Arial"/>
              </a:defRPr>
            </a:lvl2pPr>
            <a:lvl3pPr>
              <a:defRPr sz="1875" b="0">
                <a:solidFill>
                  <a:srgbClr val="122B3C"/>
                </a:solidFill>
                <a:latin typeface="Arial"/>
                <a:ea typeface="Arial"/>
                <a:cs typeface="Arial"/>
              </a:defRPr>
            </a:lvl3pPr>
            <a:lvl4pPr>
              <a:defRPr sz="1875" b="0">
                <a:solidFill>
                  <a:srgbClr val="122B3C"/>
                </a:solidFill>
                <a:latin typeface="Arial"/>
                <a:ea typeface="Arial"/>
                <a:cs typeface="Arial"/>
              </a:defRPr>
            </a:lvl4pPr>
            <a:lvl5pPr>
              <a:defRPr sz="1875" b="0">
                <a:solidFill>
                  <a:srgbClr val="122B3C"/>
                </a:solidFill>
                <a:latin typeface="Arial"/>
                <a:ea typeface="Arial"/>
                <a:cs typeface="Arial"/>
              </a:defRPr>
            </a:lvl5pPr>
            <a:lvl6pPr>
              <a:defRPr sz="1875" b="0">
                <a:solidFill>
                  <a:srgbClr val="122B3C"/>
                </a:solidFill>
                <a:latin typeface="Arial"/>
                <a:ea typeface="Arial"/>
                <a:cs typeface="Arial"/>
              </a:defRPr>
            </a:lvl6pPr>
            <a:lvl7pPr>
              <a:defRPr sz="1875" b="0">
                <a:solidFill>
                  <a:srgbClr val="122B3C"/>
                </a:solidFill>
                <a:latin typeface="Arial"/>
                <a:ea typeface="Arial"/>
                <a:cs typeface="Arial"/>
              </a:defRPr>
            </a:lvl7pPr>
            <a:lvl8pPr>
              <a:defRPr sz="1875" b="0">
                <a:solidFill>
                  <a:srgbClr val="122B3C"/>
                </a:solidFill>
                <a:latin typeface="Arial"/>
                <a:ea typeface="Arial"/>
                <a:cs typeface="Arial"/>
              </a:defRPr>
            </a:lvl8pPr>
            <a:lvl9pPr>
              <a:defRPr sz="1875" b="0">
                <a:solidFill>
                  <a:srgbClr val="122B3C"/>
                </a:solidFill>
                <a:latin typeface="Arial"/>
                <a:ea typeface="Arial"/>
                <a:cs typeface="Arial"/>
              </a:defRPr>
            </a:lvl9pPr>
          </a:lstStyle>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Collect logs, checks, and deployment events</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Evaluate rules and create an incident with context</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Review evidence, act externally, and resolve manually</a:t>
            </a:r>
          </a:p>
        </p:txBody>
      </p:sp>
      <p:sp>
        <p:nvSpPr>
          <p:cNvPr id="14" name="">
            <a:extLst xmlns:a="http://schemas.openxmlformats.org/drawingml/2006/main">
              <a:ext uri="{FF2B5EF4-FFF2-40B4-BE49-F238E27FC236}">
                <a16:creationId xmlns:a16="http://schemas.microsoft.com/office/drawing/2014/main" id="{3FB1046D-001A-4B2E-B9FF-C20543174A80}"/>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5" name="">
            <a:extLst xmlns:a="http://schemas.openxmlformats.org/drawingml/2006/main">
              <a:ext uri="{FF2B5EF4-FFF2-40B4-BE49-F238E27FC236}">
                <a16:creationId xmlns:a16="http://schemas.microsoft.com/office/drawing/2014/main" id="{F8E13642-49E0-45D7-BF6A-CE32029B0891}"/>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04</a:t>
            </a:r>
          </a:p>
        </p:txBody>
      </p:sp>
    </p:spTree>
    <p:extLst>
      <p:ext uri="{BB962C8B-B14F-4D97-AF65-F5344CB8AC3E}">
        <p14:creationId xmlns:p14="http://schemas.microsoft.com/office/powerpoint/2010/main" val="1641647650"/>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C667D41-D545-4C6E-8817-B4306BEB7F83}"/>
              </a:ext>
            </a:extLst>
          </p:cNvPr>
          <p:cNvCxnSpPr>
            <a:stCxn xmlns:a="http://schemas.openxmlformats.org/drawingml/2006/main" id="9" idx="3"/>
            <a:endCxn xmlns:a="http://schemas.openxmlformats.org/drawingml/2006/main" id="10" idx="1"/>
          </p:cNvCxnSpPr>
          <p:nvPr/>
        </p:nvCxnSpPr>
        <p:spPr>
          <a:xfrm xmlns:a="http://schemas.openxmlformats.org/drawingml/2006/main">
            <a:off x="6191250" y="4286250"/>
            <a:ext cx="1047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11" name="">
            <a:extLst xmlns:a="http://schemas.openxmlformats.org/drawingml/2006/main">
              <a:ext uri="{FF2B5EF4-FFF2-40B4-BE49-F238E27FC236}">
                <a16:creationId xmlns:a16="http://schemas.microsoft.com/office/drawing/2014/main" id="{26B1A06A-6A28-4BB4-BB9E-591087B50030}"/>
              </a:ext>
            </a:extLst>
          </p:cNvPr>
          <p:cNvCxnSpPr>
            <a:stCxn xmlns:a="http://schemas.openxmlformats.org/drawingml/2006/main" id="9" idx="0"/>
            <a:endCxn xmlns:a="http://schemas.openxmlformats.org/drawingml/2006/main" id="6" idx="2"/>
          </p:cNvCxnSpPr>
          <p:nvPr/>
        </p:nvCxnSpPr>
        <p:spPr>
          <a:xfrm xmlns:a="http://schemas.openxmlformats.org/drawingml/2006/main" flipV="1">
            <a:off x="4953000" y="3286125"/>
            <a:ext cx="4000500" cy="523875"/>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AE4DDA10-5531-4FB8-8119-D19C401205FB}"/>
              </a:ext>
            </a:extLst>
          </p:cNvPr>
          <p:cNvCxnSpPr>
            <a:stCxn xmlns:a="http://schemas.openxmlformats.org/drawingml/2006/main" id="5" idx="3"/>
            <a:endCxn xmlns:a="http://schemas.openxmlformats.org/drawingml/2006/main" id="6" idx="1"/>
          </p:cNvCxnSpPr>
          <p:nvPr/>
        </p:nvCxnSpPr>
        <p:spPr>
          <a:xfrm xmlns:a="http://schemas.openxmlformats.org/drawingml/2006/main">
            <a:off x="6191250" y="2809875"/>
            <a:ext cx="1047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7" name="">
            <a:extLst xmlns:a="http://schemas.openxmlformats.org/drawingml/2006/main">
              <a:ext uri="{FF2B5EF4-FFF2-40B4-BE49-F238E27FC236}">
                <a16:creationId xmlns:a16="http://schemas.microsoft.com/office/drawing/2014/main" id="{2F9712F1-252E-4935-8C0F-A9D33AF5CDA9}"/>
              </a:ext>
            </a:extLst>
          </p:cNvPr>
          <p:cNvCxnSpPr>
            <a:stCxn xmlns:a="http://schemas.openxmlformats.org/drawingml/2006/main" id="4" idx="3"/>
            <a:endCxn xmlns:a="http://schemas.openxmlformats.org/drawingml/2006/main" id="5" idx="1"/>
          </p:cNvCxnSpPr>
          <p:nvPr/>
        </p:nvCxnSpPr>
        <p:spPr>
          <a:xfrm xmlns:a="http://schemas.openxmlformats.org/drawingml/2006/main">
            <a:off x="2800350" y="2809875"/>
            <a:ext cx="91440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6" name="">
            <a:extLst xmlns:a="http://schemas.openxmlformats.org/drawingml/2006/main">
              <a:ext uri="{FF2B5EF4-FFF2-40B4-BE49-F238E27FC236}">
                <a16:creationId xmlns:a16="http://schemas.microsoft.com/office/drawing/2014/main" id="{2D0296B7-9875-4C55-9296-125B7B5CD81C}"/>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05</a:t>
            </a:r>
          </a:p>
        </p:txBody>
      </p:sp>
      <p:sp>
        <p:nvSpPr>
          <p:cNvPr id="2" name="">
            <a:extLst xmlns:a="http://schemas.openxmlformats.org/drawingml/2006/main">
              <a:ext uri="{FF2B5EF4-FFF2-40B4-BE49-F238E27FC236}">
                <a16:creationId xmlns:a16="http://schemas.microsoft.com/office/drawing/2014/main" id="{C2816738-183D-4835-984F-5FCFA2D32D6B}"/>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E35C3988-B1CB-41B3-BBDC-C564F8EBB17D}"/>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SQL holds the durable truth; the worker moves work forward</a:t>
            </a:r>
          </a:p>
        </p:txBody>
      </p:sp>
      <p:sp>
        <p:nvSpPr>
          <p:cNvPr id="4" name="">
            <a:extLst xmlns:a="http://schemas.openxmlformats.org/drawingml/2006/main">
              <a:ext uri="{FF2B5EF4-FFF2-40B4-BE49-F238E27FC236}">
                <a16:creationId xmlns:a16="http://schemas.microsoft.com/office/drawing/2014/main" id="{B33693BF-5A2C-43EA-928C-BC869D51BE68}"/>
              </a:ext>
            </a:extLst>
          </p:cNvPr>
          <p:cNvSpPr>
            <a:spLocks xmlns:a="http://schemas.openxmlformats.org/drawingml/2006/main" noGrp="1"/>
          </p:cNvSpPr>
          <p:nvPr/>
        </p:nvSpPr>
        <p:spPr>
          <a:xfrm xmlns:a="http://schemas.openxmlformats.org/drawingml/2006/main">
            <a:off x="609600" y="2333625"/>
            <a:ext cx="2190750" cy="9525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950" b="1">
                <a:solidFill>
                  <a:srgbClr val="122B3C"/>
                </a:solidFill>
                <a:latin typeface="Arial"/>
                <a:ea typeface="Arial"/>
                <a:cs typeface="Arial"/>
              </a:defRPr>
            </a:defPPr>
            <a:lvl1pPr>
              <a:defRPr sz="1950" b="1">
                <a:solidFill>
                  <a:srgbClr val="122B3C"/>
                </a:solidFill>
                <a:latin typeface="Arial"/>
                <a:ea typeface="Arial"/>
                <a:cs typeface="Arial"/>
              </a:defRPr>
            </a:lvl1pPr>
            <a:lvl2pPr>
              <a:defRPr sz="1950" b="1">
                <a:solidFill>
                  <a:srgbClr val="122B3C"/>
                </a:solidFill>
                <a:latin typeface="Arial"/>
                <a:ea typeface="Arial"/>
                <a:cs typeface="Arial"/>
              </a:defRPr>
            </a:lvl2pPr>
            <a:lvl3pPr>
              <a:defRPr sz="1950" b="1">
                <a:solidFill>
                  <a:srgbClr val="122B3C"/>
                </a:solidFill>
                <a:latin typeface="Arial"/>
                <a:ea typeface="Arial"/>
                <a:cs typeface="Arial"/>
              </a:defRPr>
            </a:lvl3pPr>
            <a:lvl4pPr>
              <a:defRPr sz="1950" b="1">
                <a:solidFill>
                  <a:srgbClr val="122B3C"/>
                </a:solidFill>
                <a:latin typeface="Arial"/>
                <a:ea typeface="Arial"/>
                <a:cs typeface="Arial"/>
              </a:defRPr>
            </a:lvl4pPr>
            <a:lvl5pPr>
              <a:defRPr sz="1950" b="1">
                <a:solidFill>
                  <a:srgbClr val="122B3C"/>
                </a:solidFill>
                <a:latin typeface="Arial"/>
                <a:ea typeface="Arial"/>
                <a:cs typeface="Arial"/>
              </a:defRPr>
            </a:lvl5pPr>
            <a:lvl6pPr>
              <a:defRPr sz="1950" b="1">
                <a:solidFill>
                  <a:srgbClr val="122B3C"/>
                </a:solidFill>
                <a:latin typeface="Arial"/>
                <a:ea typeface="Arial"/>
                <a:cs typeface="Arial"/>
              </a:defRPr>
            </a:lvl6pPr>
            <a:lvl7pPr>
              <a:defRPr sz="1950" b="1">
                <a:solidFill>
                  <a:srgbClr val="122B3C"/>
                </a:solidFill>
                <a:latin typeface="Arial"/>
                <a:ea typeface="Arial"/>
                <a:cs typeface="Arial"/>
              </a:defRPr>
            </a:lvl7pPr>
            <a:lvl8pPr>
              <a:defRPr sz="1950" b="1">
                <a:solidFill>
                  <a:srgbClr val="122B3C"/>
                </a:solidFill>
                <a:latin typeface="Arial"/>
                <a:ea typeface="Arial"/>
                <a:cs typeface="Arial"/>
              </a:defRPr>
            </a:lvl8pPr>
            <a:lvl9pPr>
              <a:defRPr sz="1950" b="1">
                <a:solidFill>
                  <a:srgbClr val="122B3C"/>
                </a:solidFill>
                <a:latin typeface="Arial"/>
                <a:ea typeface="Arial"/>
                <a:cs typeface="Arial"/>
              </a:defRPr>
            </a:lvl9pPr>
          </a:lstStyle>
          <a:p xmlns:a="http://schemas.openxmlformats.org/drawingml/2006/main">
            <a:pPr>
              <a:defRPr sz="1950" b="1">
                <a:solidFill>
                  <a:srgbClr val="122B3C"/>
                </a:solidFill>
                <a:latin typeface="Arial"/>
                <a:ea typeface="Arial"/>
                <a:cs typeface="Arial"/>
              </a:defRPr>
            </a:pPr>
            <a:r>
              <a:rPr sz="1950" b="1">
                <a:solidFill>
                  <a:srgbClr val="122B3C"/>
                </a:solidFill>
                <a:latin typeface="Arial"/>
                <a:ea typeface="Arial"/>
                <a:cs typeface="Arial"/>
              </a:rPr>
              <a:t>Next.js</a:t>
            </a:r>
          </a:p>
          <a:p xmlns:a="http://schemas.openxmlformats.org/drawingml/2006/main">
            <a:pPr>
              <a:defRPr sz="1950" b="1">
                <a:solidFill>
                  <a:srgbClr val="122B3C"/>
                </a:solidFill>
                <a:latin typeface="Arial"/>
                <a:ea typeface="Arial"/>
                <a:cs typeface="Arial"/>
              </a:defRPr>
            </a:pPr>
            <a:r>
              <a:rPr sz="1950" b="1">
                <a:solidFill>
                  <a:srgbClr val="122B3C"/>
                </a:solidFill>
                <a:latin typeface="Arial"/>
                <a:ea typeface="Arial"/>
                <a:cs typeface="Arial"/>
              </a:rPr>
              <a:t>dashboard</a:t>
            </a:r>
          </a:p>
        </p:txBody>
      </p:sp>
      <p:sp>
        <p:nvSpPr>
          <p:cNvPr id="5" name="">
            <a:extLst xmlns:a="http://schemas.openxmlformats.org/drawingml/2006/main">
              <a:ext uri="{FF2B5EF4-FFF2-40B4-BE49-F238E27FC236}">
                <a16:creationId xmlns:a16="http://schemas.microsoft.com/office/drawing/2014/main" id="{BDA4F9CE-7C6A-465F-8B98-35BDA9F93BC5}"/>
              </a:ext>
            </a:extLst>
          </p:cNvPr>
          <p:cNvSpPr>
            <a:spLocks xmlns:a="http://schemas.openxmlformats.org/drawingml/2006/main" noGrp="1"/>
          </p:cNvSpPr>
          <p:nvPr/>
        </p:nvSpPr>
        <p:spPr>
          <a:xfrm xmlns:a="http://schemas.openxmlformats.org/drawingml/2006/main">
            <a:off x="3714750" y="2333625"/>
            <a:ext cx="2476500" cy="9525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75" b="1">
                <a:solidFill>
                  <a:srgbClr val="122B3C"/>
                </a:solidFill>
                <a:latin typeface="Arial"/>
                <a:ea typeface="Arial"/>
                <a:cs typeface="Arial"/>
              </a:defRPr>
            </a:defPPr>
            <a:lvl1pPr>
              <a:defRPr sz="1875" b="1">
                <a:solidFill>
                  <a:srgbClr val="122B3C"/>
                </a:solidFill>
                <a:latin typeface="Arial"/>
                <a:ea typeface="Arial"/>
                <a:cs typeface="Arial"/>
              </a:defRPr>
            </a:lvl1pPr>
            <a:lvl2pPr>
              <a:defRPr sz="1875" b="1">
                <a:solidFill>
                  <a:srgbClr val="122B3C"/>
                </a:solidFill>
                <a:latin typeface="Arial"/>
                <a:ea typeface="Arial"/>
                <a:cs typeface="Arial"/>
              </a:defRPr>
            </a:lvl2pPr>
            <a:lvl3pPr>
              <a:defRPr sz="1875" b="1">
                <a:solidFill>
                  <a:srgbClr val="122B3C"/>
                </a:solidFill>
                <a:latin typeface="Arial"/>
                <a:ea typeface="Arial"/>
                <a:cs typeface="Arial"/>
              </a:defRPr>
            </a:lvl3pPr>
            <a:lvl4pPr>
              <a:defRPr sz="1875" b="1">
                <a:solidFill>
                  <a:srgbClr val="122B3C"/>
                </a:solidFill>
                <a:latin typeface="Arial"/>
                <a:ea typeface="Arial"/>
                <a:cs typeface="Arial"/>
              </a:defRPr>
            </a:lvl4pPr>
            <a:lvl5pPr>
              <a:defRPr sz="1875" b="1">
                <a:solidFill>
                  <a:srgbClr val="122B3C"/>
                </a:solidFill>
                <a:latin typeface="Arial"/>
                <a:ea typeface="Arial"/>
                <a:cs typeface="Arial"/>
              </a:defRPr>
            </a:lvl5pPr>
            <a:lvl6pPr>
              <a:defRPr sz="1875" b="1">
                <a:solidFill>
                  <a:srgbClr val="122B3C"/>
                </a:solidFill>
                <a:latin typeface="Arial"/>
                <a:ea typeface="Arial"/>
                <a:cs typeface="Arial"/>
              </a:defRPr>
            </a:lvl6pPr>
            <a:lvl7pPr>
              <a:defRPr sz="1875" b="1">
                <a:solidFill>
                  <a:srgbClr val="122B3C"/>
                </a:solidFill>
                <a:latin typeface="Arial"/>
                <a:ea typeface="Arial"/>
                <a:cs typeface="Arial"/>
              </a:defRPr>
            </a:lvl7pPr>
            <a:lvl8pPr>
              <a:defRPr sz="1875" b="1">
                <a:solidFill>
                  <a:srgbClr val="122B3C"/>
                </a:solidFill>
                <a:latin typeface="Arial"/>
                <a:ea typeface="Arial"/>
                <a:cs typeface="Arial"/>
              </a:defRPr>
            </a:lvl8pPr>
            <a:lvl9pPr>
              <a:defRPr sz="1875" b="1">
                <a:solidFill>
                  <a:srgbClr val="122B3C"/>
                </a:solidFill>
                <a:latin typeface="Arial"/>
                <a:ea typeface="Arial"/>
                <a:cs typeface="Arial"/>
              </a:defRPr>
            </a:lvl9pPr>
          </a:lstStyle>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FastAPI</a:t>
            </a:r>
          </a:p>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validation + queries</a:t>
            </a:r>
          </a:p>
        </p:txBody>
      </p:sp>
      <p:sp>
        <p:nvSpPr>
          <p:cNvPr id="6" name="">
            <a:extLst xmlns:a="http://schemas.openxmlformats.org/drawingml/2006/main">
              <a:ext uri="{FF2B5EF4-FFF2-40B4-BE49-F238E27FC236}">
                <a16:creationId xmlns:a16="http://schemas.microsoft.com/office/drawing/2014/main" id="{212FE512-70D1-4EC5-9B9B-C818FF65AED3}"/>
              </a:ext>
            </a:extLst>
          </p:cNvPr>
          <p:cNvSpPr>
            <a:spLocks xmlns:a="http://schemas.openxmlformats.org/drawingml/2006/main" noGrp="1"/>
          </p:cNvSpPr>
          <p:nvPr/>
        </p:nvSpPr>
        <p:spPr>
          <a:xfrm xmlns:a="http://schemas.openxmlformats.org/drawingml/2006/main">
            <a:off x="7239000" y="2333625"/>
            <a:ext cx="3429000" cy="9525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75" b="1">
                <a:solidFill>
                  <a:srgbClr val="122B3C"/>
                </a:solidFill>
                <a:latin typeface="Arial"/>
                <a:ea typeface="Arial"/>
                <a:cs typeface="Arial"/>
              </a:defRPr>
            </a:defPPr>
            <a:lvl1pPr>
              <a:defRPr sz="1875" b="1">
                <a:solidFill>
                  <a:srgbClr val="122B3C"/>
                </a:solidFill>
                <a:latin typeface="Arial"/>
                <a:ea typeface="Arial"/>
                <a:cs typeface="Arial"/>
              </a:defRPr>
            </a:lvl1pPr>
            <a:lvl2pPr>
              <a:defRPr sz="1875" b="1">
                <a:solidFill>
                  <a:srgbClr val="122B3C"/>
                </a:solidFill>
                <a:latin typeface="Arial"/>
                <a:ea typeface="Arial"/>
                <a:cs typeface="Arial"/>
              </a:defRPr>
            </a:lvl2pPr>
            <a:lvl3pPr>
              <a:defRPr sz="1875" b="1">
                <a:solidFill>
                  <a:srgbClr val="122B3C"/>
                </a:solidFill>
                <a:latin typeface="Arial"/>
                <a:ea typeface="Arial"/>
                <a:cs typeface="Arial"/>
              </a:defRPr>
            </a:lvl3pPr>
            <a:lvl4pPr>
              <a:defRPr sz="1875" b="1">
                <a:solidFill>
                  <a:srgbClr val="122B3C"/>
                </a:solidFill>
                <a:latin typeface="Arial"/>
                <a:ea typeface="Arial"/>
                <a:cs typeface="Arial"/>
              </a:defRPr>
            </a:lvl4pPr>
            <a:lvl5pPr>
              <a:defRPr sz="1875" b="1">
                <a:solidFill>
                  <a:srgbClr val="122B3C"/>
                </a:solidFill>
                <a:latin typeface="Arial"/>
                <a:ea typeface="Arial"/>
                <a:cs typeface="Arial"/>
              </a:defRPr>
            </a:lvl5pPr>
            <a:lvl6pPr>
              <a:defRPr sz="1875" b="1">
                <a:solidFill>
                  <a:srgbClr val="122B3C"/>
                </a:solidFill>
                <a:latin typeface="Arial"/>
                <a:ea typeface="Arial"/>
                <a:cs typeface="Arial"/>
              </a:defRPr>
            </a:lvl6pPr>
            <a:lvl7pPr>
              <a:defRPr sz="1875" b="1">
                <a:solidFill>
                  <a:srgbClr val="122B3C"/>
                </a:solidFill>
                <a:latin typeface="Arial"/>
                <a:ea typeface="Arial"/>
                <a:cs typeface="Arial"/>
              </a:defRPr>
            </a:lvl7pPr>
            <a:lvl8pPr>
              <a:defRPr sz="1875" b="1">
                <a:solidFill>
                  <a:srgbClr val="122B3C"/>
                </a:solidFill>
                <a:latin typeface="Arial"/>
                <a:ea typeface="Arial"/>
                <a:cs typeface="Arial"/>
              </a:defRPr>
            </a:lvl8pPr>
            <a:lvl9pPr>
              <a:defRPr sz="1875" b="1">
                <a:solidFill>
                  <a:srgbClr val="122B3C"/>
                </a:solidFill>
                <a:latin typeface="Arial"/>
                <a:ea typeface="Arial"/>
                <a:cs typeface="Arial"/>
              </a:defRPr>
            </a:lvl9pPr>
          </a:lstStyle>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SQL database</a:t>
            </a:r>
          </a:p>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authoritative records</a:t>
            </a:r>
          </a:p>
        </p:txBody>
      </p:sp>
      <p:sp>
        <p:nvSpPr>
          <p:cNvPr id="9" name="">
            <a:extLst xmlns:a="http://schemas.openxmlformats.org/drawingml/2006/main">
              <a:ext uri="{FF2B5EF4-FFF2-40B4-BE49-F238E27FC236}">
                <a16:creationId xmlns:a16="http://schemas.microsoft.com/office/drawing/2014/main" id="{920FEA47-26E9-4E8A-856B-CF1B8BA12448}"/>
              </a:ext>
            </a:extLst>
          </p:cNvPr>
          <p:cNvSpPr>
            <a:spLocks xmlns:a="http://schemas.openxmlformats.org/drawingml/2006/main" noGrp="1"/>
          </p:cNvSpPr>
          <p:nvPr/>
        </p:nvSpPr>
        <p:spPr>
          <a:xfrm xmlns:a="http://schemas.openxmlformats.org/drawingml/2006/main">
            <a:off x="3714750" y="3810000"/>
            <a:ext cx="2476500" cy="9525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75" b="1">
                <a:solidFill>
                  <a:srgbClr val="122B3C"/>
                </a:solidFill>
                <a:latin typeface="Arial"/>
                <a:ea typeface="Arial"/>
                <a:cs typeface="Arial"/>
              </a:defRPr>
            </a:defPPr>
            <a:lvl1pPr>
              <a:defRPr sz="1875" b="1">
                <a:solidFill>
                  <a:srgbClr val="122B3C"/>
                </a:solidFill>
                <a:latin typeface="Arial"/>
                <a:ea typeface="Arial"/>
                <a:cs typeface="Arial"/>
              </a:defRPr>
            </a:lvl1pPr>
            <a:lvl2pPr>
              <a:defRPr sz="1875" b="1">
                <a:solidFill>
                  <a:srgbClr val="122B3C"/>
                </a:solidFill>
                <a:latin typeface="Arial"/>
                <a:ea typeface="Arial"/>
                <a:cs typeface="Arial"/>
              </a:defRPr>
            </a:lvl2pPr>
            <a:lvl3pPr>
              <a:defRPr sz="1875" b="1">
                <a:solidFill>
                  <a:srgbClr val="122B3C"/>
                </a:solidFill>
                <a:latin typeface="Arial"/>
                <a:ea typeface="Arial"/>
                <a:cs typeface="Arial"/>
              </a:defRPr>
            </a:lvl3pPr>
            <a:lvl4pPr>
              <a:defRPr sz="1875" b="1">
                <a:solidFill>
                  <a:srgbClr val="122B3C"/>
                </a:solidFill>
                <a:latin typeface="Arial"/>
                <a:ea typeface="Arial"/>
                <a:cs typeface="Arial"/>
              </a:defRPr>
            </a:lvl4pPr>
            <a:lvl5pPr>
              <a:defRPr sz="1875" b="1">
                <a:solidFill>
                  <a:srgbClr val="122B3C"/>
                </a:solidFill>
                <a:latin typeface="Arial"/>
                <a:ea typeface="Arial"/>
                <a:cs typeface="Arial"/>
              </a:defRPr>
            </a:lvl5pPr>
            <a:lvl6pPr>
              <a:defRPr sz="1875" b="1">
                <a:solidFill>
                  <a:srgbClr val="122B3C"/>
                </a:solidFill>
                <a:latin typeface="Arial"/>
                <a:ea typeface="Arial"/>
                <a:cs typeface="Arial"/>
              </a:defRPr>
            </a:lvl6pPr>
            <a:lvl7pPr>
              <a:defRPr sz="1875" b="1">
                <a:solidFill>
                  <a:srgbClr val="122B3C"/>
                </a:solidFill>
                <a:latin typeface="Arial"/>
                <a:ea typeface="Arial"/>
                <a:cs typeface="Arial"/>
              </a:defRPr>
            </a:lvl7pPr>
            <a:lvl8pPr>
              <a:defRPr sz="1875" b="1">
                <a:solidFill>
                  <a:srgbClr val="122B3C"/>
                </a:solidFill>
                <a:latin typeface="Arial"/>
                <a:ea typeface="Arial"/>
                <a:cs typeface="Arial"/>
              </a:defRPr>
            </a:lvl8pPr>
            <a:lvl9pPr>
              <a:defRPr sz="1875" b="1">
                <a:solidFill>
                  <a:srgbClr val="122B3C"/>
                </a:solidFill>
                <a:latin typeface="Arial"/>
                <a:ea typeface="Arial"/>
                <a:cs typeface="Arial"/>
              </a:defRPr>
            </a:lvl9pPr>
          </a:lstStyle>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Worker</a:t>
            </a:r>
          </a:p>
          <a:p xmlns:a="http://schemas.openxmlformats.org/drawingml/2006/main">
            <a:pPr>
              <a:defRPr sz="1875" b="1">
                <a:solidFill>
                  <a:srgbClr val="122B3C"/>
                </a:solidFill>
                <a:latin typeface="Arial"/>
                <a:ea typeface="Arial"/>
                <a:cs typeface="Arial"/>
              </a:defRPr>
            </a:pPr>
            <a:r>
              <a:rPr sz="1875" b="1">
                <a:solidFill>
                  <a:srgbClr val="122B3C"/>
                </a:solidFill>
                <a:latin typeface="Arial"/>
                <a:ea typeface="Arial"/>
                <a:cs typeface="Arial"/>
              </a:rPr>
              <a:t>checks + events</a:t>
            </a:r>
          </a:p>
        </p:txBody>
      </p:sp>
      <p:sp>
        <p:nvSpPr>
          <p:cNvPr id="10" name="">
            <a:extLst xmlns:a="http://schemas.openxmlformats.org/drawingml/2006/main">
              <a:ext uri="{FF2B5EF4-FFF2-40B4-BE49-F238E27FC236}">
                <a16:creationId xmlns:a16="http://schemas.microsoft.com/office/drawing/2014/main" id="{61FCDAFE-3B7D-4DD9-8421-DA3B5B680B33}"/>
              </a:ext>
            </a:extLst>
          </p:cNvPr>
          <p:cNvSpPr>
            <a:spLocks xmlns:a="http://schemas.openxmlformats.org/drawingml/2006/main" noGrp="1"/>
          </p:cNvSpPr>
          <p:nvPr/>
        </p:nvSpPr>
        <p:spPr>
          <a:xfrm xmlns:a="http://schemas.openxmlformats.org/drawingml/2006/main">
            <a:off x="7239000" y="3810000"/>
            <a:ext cx="3429000" cy="952500"/>
          </a:xfrm>
          <a:prstGeom xmlns:a="http://schemas.openxmlformats.org/drawingml/2006/main" prst="rect">
            <a:avLst/>
          </a:prstGeom>
          <a:solidFill xmlns:a="http://schemas.openxmlformats.org/drawingml/2006/main">
            <a:srgbClr val="EAE5F5"/>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Targets / optional Redis</a:t>
            </a:r>
          </a:p>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AI provider / webhook</a:t>
            </a:r>
          </a:p>
        </p:txBody>
      </p:sp>
      <p:sp>
        <p:nvSpPr>
          <p:cNvPr id="13" name="">
            <a:extLst xmlns:a="http://schemas.openxmlformats.org/drawingml/2006/main">
              <a:ext uri="{FF2B5EF4-FFF2-40B4-BE49-F238E27FC236}">
                <a16:creationId xmlns:a16="http://schemas.microsoft.com/office/drawing/2014/main" id="{6CA1355A-A5EE-4556-877B-6CDE2914F5D4}"/>
              </a:ext>
            </a:extLst>
          </p:cNvPr>
          <p:cNvSpPr>
            <a:spLocks xmlns:a="http://schemas.openxmlformats.org/drawingml/2006/main" noGrp="1"/>
          </p:cNvSpPr>
          <p:nvPr/>
        </p:nvSpPr>
        <p:spPr>
          <a:xfrm xmlns:a="http://schemas.openxmlformats.org/drawingml/2006/main">
            <a:off x="609600" y="5143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536471"/>
                </a:solidFill>
                <a:latin typeface="Arial"/>
                <a:ea typeface="Arial"/>
                <a:cs typeface="Arial"/>
              </a:defRPr>
            </a:defPPr>
            <a:lvl1pPr>
              <a:defRPr sz="1650" b="0">
                <a:solidFill>
                  <a:srgbClr val="536471"/>
                </a:solidFill>
                <a:latin typeface="Arial"/>
                <a:ea typeface="Arial"/>
                <a:cs typeface="Arial"/>
              </a:defRPr>
            </a:lvl1pPr>
            <a:lvl2pPr>
              <a:defRPr sz="1650" b="0">
                <a:solidFill>
                  <a:srgbClr val="536471"/>
                </a:solidFill>
                <a:latin typeface="Arial"/>
                <a:ea typeface="Arial"/>
                <a:cs typeface="Arial"/>
              </a:defRPr>
            </a:lvl2pPr>
            <a:lvl3pPr>
              <a:defRPr sz="1650" b="0">
                <a:solidFill>
                  <a:srgbClr val="536471"/>
                </a:solidFill>
                <a:latin typeface="Arial"/>
                <a:ea typeface="Arial"/>
                <a:cs typeface="Arial"/>
              </a:defRPr>
            </a:lvl3pPr>
            <a:lvl4pPr>
              <a:defRPr sz="1650" b="0">
                <a:solidFill>
                  <a:srgbClr val="536471"/>
                </a:solidFill>
                <a:latin typeface="Arial"/>
                <a:ea typeface="Arial"/>
                <a:cs typeface="Arial"/>
              </a:defRPr>
            </a:lvl4pPr>
            <a:lvl5pPr>
              <a:defRPr sz="1650" b="0">
                <a:solidFill>
                  <a:srgbClr val="536471"/>
                </a:solidFill>
                <a:latin typeface="Arial"/>
                <a:ea typeface="Arial"/>
                <a:cs typeface="Arial"/>
              </a:defRPr>
            </a:lvl5pPr>
            <a:lvl6pPr>
              <a:defRPr sz="1650" b="0">
                <a:solidFill>
                  <a:srgbClr val="536471"/>
                </a:solidFill>
                <a:latin typeface="Arial"/>
                <a:ea typeface="Arial"/>
                <a:cs typeface="Arial"/>
              </a:defRPr>
            </a:lvl6pPr>
            <a:lvl7pPr>
              <a:defRPr sz="1650" b="0">
                <a:solidFill>
                  <a:srgbClr val="536471"/>
                </a:solidFill>
                <a:latin typeface="Arial"/>
                <a:ea typeface="Arial"/>
                <a:cs typeface="Arial"/>
              </a:defRPr>
            </a:lvl7pPr>
            <a:lvl8pPr>
              <a:defRPr sz="1650" b="0">
                <a:solidFill>
                  <a:srgbClr val="536471"/>
                </a:solidFill>
                <a:latin typeface="Arial"/>
                <a:ea typeface="Arial"/>
                <a:cs typeface="Arial"/>
              </a:defRPr>
            </a:lvl8pPr>
            <a:lvl9pPr>
              <a:defRPr sz="1650" b="0">
                <a:solidFill>
                  <a:srgbClr val="536471"/>
                </a:solidFill>
                <a:latin typeface="Arial"/>
                <a:ea typeface="Arial"/>
                <a:cs typeface="Arial"/>
              </a:defRPr>
            </a:lvl9pPr>
          </a:lstStyle>
          <a:p xmlns:a="http://schemas.openxmlformats.org/drawingml/2006/main">
            <a:pPr>
              <a:defRPr sz="1650" b="0">
                <a:solidFill>
                  <a:srgbClr val="536471"/>
                </a:solidFill>
                <a:latin typeface="Arial"/>
                <a:ea typeface="Arial"/>
                <a:cs typeface="Arial"/>
              </a:defRPr>
            </a:pPr>
            <a:r>
              <a:rPr sz="1650" b="0">
                <a:solidFill>
                  <a:srgbClr val="536471"/>
                </a:solidFill>
                <a:latin typeface="Arial"/>
                <a:ea typeface="Arial"/>
                <a:cs typeface="Arial"/>
              </a:rPr>
              <a:t>Shippers also POST directly to FastAPI. API and worker can both run analysis.</a:t>
            </a:r>
          </a:p>
        </p:txBody>
      </p:sp>
      <p:sp>
        <p:nvSpPr>
          <p:cNvPr id="14" name="">
            <a:extLst xmlns:a="http://schemas.openxmlformats.org/drawingml/2006/main">
              <a:ext uri="{FF2B5EF4-FFF2-40B4-BE49-F238E27FC236}">
                <a16:creationId xmlns:a16="http://schemas.microsoft.com/office/drawing/2014/main" id="{D1DF4E74-2BBD-4609-89D1-D13E655C17BA}"/>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5" name="">
            <a:extLst xmlns:a="http://schemas.openxmlformats.org/drawingml/2006/main">
              <a:ext uri="{FF2B5EF4-FFF2-40B4-BE49-F238E27FC236}">
                <a16:creationId xmlns:a16="http://schemas.microsoft.com/office/drawing/2014/main" id="{E0025B4D-0A78-4C9C-992B-FFACB79F9E3D}"/>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05</a:t>
            </a:r>
          </a:p>
        </p:txBody>
      </p:sp>
    </p:spTree>
    <p:extLst>
      <p:ext uri="{BB962C8B-B14F-4D97-AF65-F5344CB8AC3E}">
        <p14:creationId xmlns:p14="http://schemas.microsoft.com/office/powerpoint/2010/main" val="1453799694"/>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720E99-0B69-4801-9FDD-7CE1A90B0984}"/>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06</a:t>
            </a:r>
          </a:p>
        </p:txBody>
      </p:sp>
      <p:sp>
        <p:nvSpPr>
          <p:cNvPr id="2" name="">
            <a:extLst xmlns:a="http://schemas.openxmlformats.org/drawingml/2006/main">
              <a:ext uri="{FF2B5EF4-FFF2-40B4-BE49-F238E27FC236}">
                <a16:creationId xmlns:a16="http://schemas.microsoft.com/office/drawing/2014/main" id="{D2357D12-28E8-4360-88F0-9B36027E9F49}"/>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Technology and responsibilities</a:t>
            </a:r>
          </a:p>
        </p:txBody>
      </p:sp>
      <p:sp>
        <p:nvSpPr>
          <p:cNvPr id="3" name="">
            <a:extLst xmlns:a="http://schemas.openxmlformats.org/drawingml/2006/main">
              <a:ext uri="{FF2B5EF4-FFF2-40B4-BE49-F238E27FC236}">
                <a16:creationId xmlns:a16="http://schemas.microsoft.com/office/drawing/2014/main" id="{DD259DFE-E18A-4F7D-AB17-EAE72932C8F9}"/>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Each component has a focused job</a:t>
            </a:r>
          </a:p>
        </p:txBody>
      </p:sp>
      <p:sp>
        <p:nvSpPr>
          <p:cNvPr id="4" name="">
            <a:extLst xmlns:a="http://schemas.openxmlformats.org/drawingml/2006/main">
              <a:ext uri="{FF2B5EF4-FFF2-40B4-BE49-F238E27FC236}">
                <a16:creationId xmlns:a16="http://schemas.microsoft.com/office/drawing/2014/main" id="{25737E3B-7CAA-4082-A4B1-7CA95A357EB8}"/>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5A2B617-2B10-442D-AA63-DD568B7D9C87}"/>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Next.js + React: navigation and operator views</a:t>
            </a:r>
          </a:p>
        </p:txBody>
      </p:sp>
      <p:sp>
        <p:nvSpPr>
          <p:cNvPr id="6" name="">
            <a:extLst xmlns:a="http://schemas.openxmlformats.org/drawingml/2006/main">
              <a:ext uri="{FF2B5EF4-FFF2-40B4-BE49-F238E27FC236}">
                <a16:creationId xmlns:a16="http://schemas.microsoft.com/office/drawing/2014/main" id="{4570760B-306E-43FC-8EBD-A7A6FF0D7134}"/>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C3F97EB-3F99-4B9A-974F-D0FF25B765A9}"/>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FastAPI + SQLAlchemy: validation and persistence</a:t>
            </a:r>
          </a:p>
        </p:txBody>
      </p:sp>
      <p:sp>
        <p:nvSpPr>
          <p:cNvPr id="8" name="">
            <a:extLst xmlns:a="http://schemas.openxmlformats.org/drawingml/2006/main">
              <a:ext uri="{FF2B5EF4-FFF2-40B4-BE49-F238E27FC236}">
                <a16:creationId xmlns:a16="http://schemas.microsoft.com/office/drawing/2014/main" id="{EC599368-A227-401E-9668-86ED37B9ECD5}"/>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8324AFF7-97ED-4F8E-B6A7-CBEA5EB0ED77}"/>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PostgreSQL + Redis + Docker: deployment building blocks</a:t>
            </a:r>
          </a:p>
        </p:txBody>
      </p:sp>
      <p:sp>
        <p:nvSpPr>
          <p:cNvPr id="10" name="">
            <a:extLst xmlns:a="http://schemas.openxmlformats.org/drawingml/2006/main">
              <a:ext uri="{FF2B5EF4-FFF2-40B4-BE49-F238E27FC236}">
                <a16:creationId xmlns:a16="http://schemas.microsoft.com/office/drawing/2014/main" id="{2760367E-51F8-4011-BF1E-2705556B98E0}"/>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5722FC2C-5786-40B2-9367-903A2D13B1DC}"/>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06</a:t>
            </a:r>
          </a:p>
        </p:txBody>
      </p:sp>
    </p:spTree>
    <p:extLst>
      <p:ext uri="{BB962C8B-B14F-4D97-AF65-F5344CB8AC3E}">
        <p14:creationId xmlns:p14="http://schemas.microsoft.com/office/powerpoint/2010/main" val="1111873257"/>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EA26370-FBA4-4FEC-B688-FBE0A919E831}"/>
              </a:ext>
            </a:extLst>
          </p:cNvPr>
          <p:cNvCxnSpPr>
            <a:stCxn xmlns:a="http://schemas.openxmlformats.org/drawingml/2006/main" id="9" idx="3"/>
            <a:endCxn xmlns:a="http://schemas.openxmlformats.org/drawingml/2006/main" id="11" idx="1"/>
          </p:cNvCxnSpPr>
          <p:nvPr/>
        </p:nvCxnSpPr>
        <p:spPr>
          <a:xfrm xmlns:a="http://schemas.openxmlformats.org/drawingml/2006/main">
            <a:off x="933069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10" name="">
            <a:extLst xmlns:a="http://schemas.openxmlformats.org/drawingml/2006/main">
              <a:ext uri="{FF2B5EF4-FFF2-40B4-BE49-F238E27FC236}">
                <a16:creationId xmlns:a16="http://schemas.microsoft.com/office/drawing/2014/main" id="{BB04F8A8-7881-418F-AA09-8DA405119749}"/>
              </a:ext>
            </a:extLst>
          </p:cNvPr>
          <p:cNvCxnSpPr>
            <a:stCxn xmlns:a="http://schemas.openxmlformats.org/drawingml/2006/main" id="7" idx="3"/>
            <a:endCxn xmlns:a="http://schemas.openxmlformats.org/drawingml/2006/main" id="9" idx="1"/>
          </p:cNvCxnSpPr>
          <p:nvPr/>
        </p:nvCxnSpPr>
        <p:spPr>
          <a:xfrm xmlns:a="http://schemas.openxmlformats.org/drawingml/2006/main">
            <a:off x="707898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C05C1C9E-B692-4C12-884D-FC1E8665E16F}"/>
              </a:ext>
            </a:extLst>
          </p:cNvPr>
          <p:cNvCxnSpPr>
            <a:stCxn xmlns:a="http://schemas.openxmlformats.org/drawingml/2006/main" id="5" idx="3"/>
            <a:endCxn xmlns:a="http://schemas.openxmlformats.org/drawingml/2006/main" id="7" idx="1"/>
          </p:cNvCxnSpPr>
          <p:nvPr/>
        </p:nvCxnSpPr>
        <p:spPr>
          <a:xfrm xmlns:a="http://schemas.openxmlformats.org/drawingml/2006/main">
            <a:off x="482727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6" name="">
            <a:extLst xmlns:a="http://schemas.openxmlformats.org/drawingml/2006/main">
              <a:ext uri="{FF2B5EF4-FFF2-40B4-BE49-F238E27FC236}">
                <a16:creationId xmlns:a16="http://schemas.microsoft.com/office/drawing/2014/main" id="{9D54C073-725D-4EB8-9215-472D8149B16F}"/>
              </a:ext>
            </a:extLst>
          </p:cNvPr>
          <p:cNvCxnSpPr>
            <a:stCxn xmlns:a="http://schemas.openxmlformats.org/drawingml/2006/main" id="4" idx="3"/>
            <a:endCxn xmlns:a="http://schemas.openxmlformats.org/drawingml/2006/main" id="5" idx="1"/>
          </p:cNvCxnSpPr>
          <p:nvPr/>
        </p:nvCxnSpPr>
        <p:spPr>
          <a:xfrm xmlns:a="http://schemas.openxmlformats.org/drawingml/2006/main">
            <a:off x="2575560"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6" name="">
            <a:extLst xmlns:a="http://schemas.openxmlformats.org/drawingml/2006/main">
              <a:ext uri="{FF2B5EF4-FFF2-40B4-BE49-F238E27FC236}">
                <a16:creationId xmlns:a16="http://schemas.microsoft.com/office/drawing/2014/main" id="{2A2C0F1D-E12F-40E2-AA35-781C33B1CC08}"/>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07</a:t>
            </a:r>
          </a:p>
        </p:txBody>
      </p:sp>
      <p:sp>
        <p:nvSpPr>
          <p:cNvPr id="2" name="">
            <a:extLst xmlns:a="http://schemas.openxmlformats.org/drawingml/2006/main">
              <a:ext uri="{FF2B5EF4-FFF2-40B4-BE49-F238E27FC236}">
                <a16:creationId xmlns:a16="http://schemas.microsoft.com/office/drawing/2014/main" id="{026D068E-5826-4167-8025-E87CCC82D74F}"/>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Structured log ingestion</a:t>
            </a:r>
          </a:p>
        </p:txBody>
      </p:sp>
      <p:sp>
        <p:nvSpPr>
          <p:cNvPr id="3" name="">
            <a:extLst xmlns:a="http://schemas.openxmlformats.org/drawingml/2006/main">
              <a:ext uri="{FF2B5EF4-FFF2-40B4-BE49-F238E27FC236}">
                <a16:creationId xmlns:a16="http://schemas.microsoft.com/office/drawing/2014/main" id="{F1D0F071-DEEB-426A-B4A1-E3D0D31A4895}"/>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An error record and its event are committed together</a:t>
            </a:r>
          </a:p>
        </p:txBody>
      </p:sp>
      <p:sp>
        <p:nvSpPr>
          <p:cNvPr id="4" name="">
            <a:extLst xmlns:a="http://schemas.openxmlformats.org/drawingml/2006/main">
              <a:ext uri="{FF2B5EF4-FFF2-40B4-BE49-F238E27FC236}">
                <a16:creationId xmlns:a16="http://schemas.microsoft.com/office/drawing/2014/main" id="{DD1040B2-B08C-4F24-9063-4A8EFA040EEA}"/>
              </a:ext>
            </a:extLst>
          </p:cNvPr>
          <p:cNvSpPr>
            <a:spLocks xmlns:a="http://schemas.openxmlformats.org/drawingml/2006/main" noGrp="1"/>
          </p:cNvSpPr>
          <p:nvPr/>
        </p:nvSpPr>
        <p:spPr>
          <a:xfrm xmlns:a="http://schemas.openxmlformats.org/drawingml/2006/main">
            <a:off x="60960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Validate + redact</a:t>
            </a:r>
          </a:p>
        </p:txBody>
      </p:sp>
      <p:sp>
        <p:nvSpPr>
          <p:cNvPr id="5" name="">
            <a:extLst xmlns:a="http://schemas.openxmlformats.org/drawingml/2006/main">
              <a:ext uri="{FF2B5EF4-FFF2-40B4-BE49-F238E27FC236}">
                <a16:creationId xmlns:a16="http://schemas.microsoft.com/office/drawing/2014/main" id="{9C04C14B-475A-4554-8424-83E094485617}"/>
              </a:ext>
            </a:extLst>
          </p:cNvPr>
          <p:cNvSpPr>
            <a:spLocks xmlns:a="http://schemas.openxmlformats.org/drawingml/2006/main" noGrp="1"/>
          </p:cNvSpPr>
          <p:nvPr/>
        </p:nvSpPr>
        <p:spPr>
          <a:xfrm xmlns:a="http://schemas.openxmlformats.org/drawingml/2006/main">
            <a:off x="286131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Log + event in SQL</a:t>
            </a:r>
          </a:p>
        </p:txBody>
      </p:sp>
      <p:sp>
        <p:nvSpPr>
          <p:cNvPr id="7" name="">
            <a:extLst xmlns:a="http://schemas.openxmlformats.org/drawingml/2006/main">
              <a:ext uri="{FF2B5EF4-FFF2-40B4-BE49-F238E27FC236}">
                <a16:creationId xmlns:a16="http://schemas.microsoft.com/office/drawing/2014/main" id="{2EC24EA3-F309-490C-98F9-13E2577900E6}"/>
              </a:ext>
            </a:extLst>
          </p:cNvPr>
          <p:cNvSpPr>
            <a:spLocks xmlns:a="http://schemas.openxmlformats.org/drawingml/2006/main" noGrp="1"/>
          </p:cNvSpPr>
          <p:nvPr/>
        </p:nvSpPr>
        <p:spPr>
          <a:xfrm xmlns:a="http://schemas.openxmlformats.org/drawingml/2006/main">
            <a:off x="511302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Worker evaluates</a:t>
            </a:r>
          </a:p>
        </p:txBody>
      </p:sp>
      <p:sp>
        <p:nvSpPr>
          <p:cNvPr id="9" name="">
            <a:extLst xmlns:a="http://schemas.openxmlformats.org/drawingml/2006/main">
              <a:ext uri="{FF2B5EF4-FFF2-40B4-BE49-F238E27FC236}">
                <a16:creationId xmlns:a16="http://schemas.microsoft.com/office/drawing/2014/main" id="{3D4AB48B-C04C-4823-88DC-1BC68A370B08}"/>
              </a:ext>
            </a:extLst>
          </p:cNvPr>
          <p:cNvSpPr>
            <a:spLocks xmlns:a="http://schemas.openxmlformats.org/drawingml/2006/main" noGrp="1"/>
          </p:cNvSpPr>
          <p:nvPr/>
        </p:nvSpPr>
        <p:spPr>
          <a:xfrm xmlns:a="http://schemas.openxmlformats.org/drawingml/2006/main">
            <a:off x="736473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Incident + event</a:t>
            </a:r>
          </a:p>
        </p:txBody>
      </p:sp>
      <p:sp>
        <p:nvSpPr>
          <p:cNvPr id="11" name="">
            <a:extLst xmlns:a="http://schemas.openxmlformats.org/drawingml/2006/main">
              <a:ext uri="{FF2B5EF4-FFF2-40B4-BE49-F238E27FC236}">
                <a16:creationId xmlns:a16="http://schemas.microsoft.com/office/drawing/2014/main" id="{FF832DEE-B1A6-4167-9E35-63D69FCD3F24}"/>
              </a:ext>
            </a:extLst>
          </p:cNvPr>
          <p:cNvSpPr>
            <a:spLocks xmlns:a="http://schemas.openxmlformats.org/drawingml/2006/main" noGrp="1"/>
          </p:cNvSpPr>
          <p:nvPr/>
        </p:nvSpPr>
        <p:spPr>
          <a:xfrm xmlns:a="http://schemas.openxmlformats.org/drawingml/2006/main">
            <a:off x="9616440" y="2476500"/>
            <a:ext cx="1965960"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Analysis / alert</a:t>
            </a:r>
          </a:p>
        </p:txBody>
      </p:sp>
      <p:sp>
        <p:nvSpPr>
          <p:cNvPr id="13" name="">
            <a:extLst xmlns:a="http://schemas.openxmlformats.org/drawingml/2006/main">
              <a:ext uri="{FF2B5EF4-FFF2-40B4-BE49-F238E27FC236}">
                <a16:creationId xmlns:a16="http://schemas.microsoft.com/office/drawing/2014/main" id="{8C6533DA-A2D2-4440-88EF-540062AC6DC3}"/>
              </a:ext>
            </a:extLst>
          </p:cNvPr>
          <p:cNvSpPr>
            <a:spLocks xmlns:a="http://schemas.openxmlformats.org/drawingml/2006/main" noGrp="1"/>
          </p:cNvSpPr>
          <p:nvPr/>
        </p:nvSpPr>
        <p:spPr>
          <a:xfrm xmlns:a="http://schemas.openxmlformats.org/drawingml/2006/main">
            <a:off x="609600" y="4000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22B3C"/>
                </a:solidFill>
                <a:latin typeface="Arial"/>
                <a:ea typeface="Arial"/>
                <a:cs typeface="Arial"/>
              </a:defRPr>
            </a:defPPr>
            <a:lvl1pPr>
              <a:defRPr sz="1875" b="0">
                <a:solidFill>
                  <a:srgbClr val="122B3C"/>
                </a:solidFill>
                <a:latin typeface="Arial"/>
                <a:ea typeface="Arial"/>
                <a:cs typeface="Arial"/>
              </a:defRPr>
            </a:lvl1pPr>
            <a:lvl2pPr>
              <a:defRPr sz="1875" b="0">
                <a:solidFill>
                  <a:srgbClr val="122B3C"/>
                </a:solidFill>
                <a:latin typeface="Arial"/>
                <a:ea typeface="Arial"/>
                <a:cs typeface="Arial"/>
              </a:defRPr>
            </a:lvl2pPr>
            <a:lvl3pPr>
              <a:defRPr sz="1875" b="0">
                <a:solidFill>
                  <a:srgbClr val="122B3C"/>
                </a:solidFill>
                <a:latin typeface="Arial"/>
                <a:ea typeface="Arial"/>
                <a:cs typeface="Arial"/>
              </a:defRPr>
            </a:lvl3pPr>
            <a:lvl4pPr>
              <a:defRPr sz="1875" b="0">
                <a:solidFill>
                  <a:srgbClr val="122B3C"/>
                </a:solidFill>
                <a:latin typeface="Arial"/>
                <a:ea typeface="Arial"/>
                <a:cs typeface="Arial"/>
              </a:defRPr>
            </a:lvl4pPr>
            <a:lvl5pPr>
              <a:defRPr sz="1875" b="0">
                <a:solidFill>
                  <a:srgbClr val="122B3C"/>
                </a:solidFill>
                <a:latin typeface="Arial"/>
                <a:ea typeface="Arial"/>
                <a:cs typeface="Arial"/>
              </a:defRPr>
            </a:lvl5pPr>
            <a:lvl6pPr>
              <a:defRPr sz="1875" b="0">
                <a:solidFill>
                  <a:srgbClr val="122B3C"/>
                </a:solidFill>
                <a:latin typeface="Arial"/>
                <a:ea typeface="Arial"/>
                <a:cs typeface="Arial"/>
              </a:defRPr>
            </a:lvl6pPr>
            <a:lvl7pPr>
              <a:defRPr sz="1875" b="0">
                <a:solidFill>
                  <a:srgbClr val="122B3C"/>
                </a:solidFill>
                <a:latin typeface="Arial"/>
                <a:ea typeface="Arial"/>
                <a:cs typeface="Arial"/>
              </a:defRPr>
            </a:lvl7pPr>
            <a:lvl8pPr>
              <a:defRPr sz="1875" b="0">
                <a:solidFill>
                  <a:srgbClr val="122B3C"/>
                </a:solidFill>
                <a:latin typeface="Arial"/>
                <a:ea typeface="Arial"/>
                <a:cs typeface="Arial"/>
              </a:defRPr>
            </a:lvl8pPr>
            <a:lvl9pPr>
              <a:defRPr sz="1875" b="0">
                <a:solidFill>
                  <a:srgbClr val="122B3C"/>
                </a:solidFill>
                <a:latin typeface="Arial"/>
                <a:ea typeface="Arial"/>
                <a:cs typeface="Arial"/>
              </a:defRPr>
            </a:lvl9pPr>
          </a:lstStyle>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Validate service, severity, message, and metadata</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Redact selected sensitive fields on a best-effort basis</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Persist ERROR/FATAL logs with a log.error outbox event</a:t>
            </a:r>
          </a:p>
        </p:txBody>
      </p:sp>
      <p:sp>
        <p:nvSpPr>
          <p:cNvPr id="14" name="">
            <a:extLst xmlns:a="http://schemas.openxmlformats.org/drawingml/2006/main">
              <a:ext uri="{FF2B5EF4-FFF2-40B4-BE49-F238E27FC236}">
                <a16:creationId xmlns:a16="http://schemas.microsoft.com/office/drawing/2014/main" id="{F7100BF1-188D-4739-A2DD-0C5782D09643}"/>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5" name="">
            <a:extLst xmlns:a="http://schemas.openxmlformats.org/drawingml/2006/main">
              <a:ext uri="{FF2B5EF4-FFF2-40B4-BE49-F238E27FC236}">
                <a16:creationId xmlns:a16="http://schemas.microsoft.com/office/drawing/2014/main" id="{8262944D-DE5E-4B19-B06B-262A54AF54C1}"/>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07</a:t>
            </a:r>
          </a:p>
        </p:txBody>
      </p:sp>
    </p:spTree>
    <p:extLst>
      <p:ext uri="{BB962C8B-B14F-4D97-AF65-F5344CB8AC3E}">
        <p14:creationId xmlns:p14="http://schemas.microsoft.com/office/powerpoint/2010/main" val="857879887"/>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DD73EA-4590-482A-B1F8-90A6BA67248F}"/>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08</a:t>
            </a:r>
          </a:p>
        </p:txBody>
      </p:sp>
      <p:sp>
        <p:nvSpPr>
          <p:cNvPr id="2" name="">
            <a:extLst xmlns:a="http://schemas.openxmlformats.org/drawingml/2006/main">
              <a:ext uri="{FF2B5EF4-FFF2-40B4-BE49-F238E27FC236}">
                <a16:creationId xmlns:a16="http://schemas.microsoft.com/office/drawing/2014/main" id="{7FED89D1-8366-48BE-8BEB-4D111B3CA2A2}"/>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HTTP monitoring</a:t>
            </a:r>
          </a:p>
        </p:txBody>
      </p:sp>
      <p:sp>
        <p:nvSpPr>
          <p:cNvPr id="3" name="">
            <a:extLst xmlns:a="http://schemas.openxmlformats.org/drawingml/2006/main">
              <a:ext uri="{FF2B5EF4-FFF2-40B4-BE49-F238E27FC236}">
                <a16:creationId xmlns:a16="http://schemas.microsoft.com/office/drawing/2014/main" id="{CD56FB50-2B46-47E0-B625-D2F404BBABBC}"/>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Status and header latency define the result</a:t>
            </a:r>
          </a:p>
        </p:txBody>
      </p:sp>
      <p:sp>
        <p:nvSpPr>
          <p:cNvPr id="4" name="">
            <a:extLst xmlns:a="http://schemas.openxmlformats.org/drawingml/2006/main">
              <a:ext uri="{FF2B5EF4-FFF2-40B4-BE49-F238E27FC236}">
                <a16:creationId xmlns:a16="http://schemas.microsoft.com/office/drawing/2014/main" id="{44ED2BD4-AA01-4E1E-97C7-2DA0DD3F363B}"/>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BEEDB28-C2D3-4ABD-8E46-71B77291977B}"/>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Unexpected status or request failure: down</a:t>
            </a:r>
          </a:p>
        </p:txBody>
      </p:sp>
      <p:sp>
        <p:nvSpPr>
          <p:cNvPr id="6" name="">
            <a:extLst xmlns:a="http://schemas.openxmlformats.org/drawingml/2006/main">
              <a:ext uri="{FF2B5EF4-FFF2-40B4-BE49-F238E27FC236}">
                <a16:creationId xmlns:a16="http://schemas.microsoft.com/office/drawing/2014/main" id="{565B07A6-8DB6-4E9D-B8A5-0AD8CB658BDA}"/>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CB5493E-F760-4F64-AEAC-DF0413916AB9}"/>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Expected status with excessive latency: degraded</a:t>
            </a:r>
          </a:p>
        </p:txBody>
      </p:sp>
      <p:sp>
        <p:nvSpPr>
          <p:cNvPr id="8" name="">
            <a:extLst xmlns:a="http://schemas.openxmlformats.org/drawingml/2006/main">
              <a:ext uri="{FF2B5EF4-FFF2-40B4-BE49-F238E27FC236}">
                <a16:creationId xmlns:a16="http://schemas.microsoft.com/office/drawing/2014/main" id="{4A53A8FD-42C9-4A69-8AB6-37A0D47E2963}"/>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E552516-6F33-40FB-87FF-FA02537EFFAD}"/>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Expected status within threshold: up</a:t>
            </a:r>
          </a:p>
        </p:txBody>
      </p:sp>
      <p:sp>
        <p:nvSpPr>
          <p:cNvPr id="10" name="">
            <a:extLst xmlns:a="http://schemas.openxmlformats.org/drawingml/2006/main">
              <a:ext uri="{FF2B5EF4-FFF2-40B4-BE49-F238E27FC236}">
                <a16:creationId xmlns:a16="http://schemas.microsoft.com/office/drawing/2014/main" id="{6DCA579A-7C2C-4759-90CB-B239F33063F0}"/>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FE5EEB82-6BCC-404C-B4C3-B2CCD63F1EC8}"/>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08</a:t>
            </a:r>
          </a:p>
        </p:txBody>
      </p:sp>
    </p:spTree>
    <p:extLst>
      <p:ext uri="{BB962C8B-B14F-4D97-AF65-F5344CB8AC3E}">
        <p14:creationId xmlns:p14="http://schemas.microsoft.com/office/powerpoint/2010/main" val="561762719"/>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84F809-ED20-4812-B250-C9C4F5E2D0F2}"/>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09</a:t>
            </a:r>
          </a:p>
        </p:txBody>
      </p:sp>
      <p:sp>
        <p:nvSpPr>
          <p:cNvPr id="2" name="">
            <a:extLst xmlns:a="http://schemas.openxmlformats.org/drawingml/2006/main">
              <a:ext uri="{FF2B5EF4-FFF2-40B4-BE49-F238E27FC236}">
                <a16:creationId xmlns:a16="http://schemas.microsoft.com/office/drawing/2014/main" id="{7F1D8484-6357-404A-A3B8-677681A97724}"/>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Incident detection rules</a:t>
            </a:r>
          </a:p>
        </p:txBody>
      </p:sp>
      <p:sp>
        <p:nvSpPr>
          <p:cNvPr id="3" name="">
            <a:extLst xmlns:a="http://schemas.openxmlformats.org/drawingml/2006/main">
              <a:ext uri="{FF2B5EF4-FFF2-40B4-BE49-F238E27FC236}">
                <a16:creationId xmlns:a16="http://schemas.microsoft.com/office/drawing/2014/main" id="{4FFAD3EC-16D2-4520-AAB5-33EDCA0FDC5D}"/>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 transparent fixed threshold, not a learned anomaly model</a:t>
            </a:r>
          </a:p>
        </p:txBody>
      </p:sp>
      <p:sp>
        <p:nvSpPr>
          <p:cNvPr id="4" name="">
            <a:extLst xmlns:a="http://schemas.openxmlformats.org/drawingml/2006/main">
              <a:ext uri="{FF2B5EF4-FFF2-40B4-BE49-F238E27FC236}">
                <a16:creationId xmlns:a16="http://schemas.microsoft.com/office/drawing/2014/main" id="{E5DBBE93-0072-40E0-B34C-9015BC193262}"/>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6527AAF-2EC0-4D2A-AFB6-5F6406B2BEA9}"/>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Default error rule: 5 errors in the last 300 seconds</a:t>
            </a:r>
          </a:p>
        </p:txBody>
      </p:sp>
      <p:sp>
        <p:nvSpPr>
          <p:cNvPr id="6" name="">
            <a:extLst xmlns:a="http://schemas.openxmlformats.org/drawingml/2006/main">
              <a:ext uri="{FF2B5EF4-FFF2-40B4-BE49-F238E27FC236}">
                <a16:creationId xmlns:a16="http://schemas.microsoft.com/office/drawing/2014/main" id="{1833B7DC-1A04-4A2E-A518-5E2FF2D3174C}"/>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AC17B87-1C23-4527-A725-35F5B0FDF160}"/>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New error incidents: high; critical at 3 times threshold</a:t>
            </a:r>
          </a:p>
        </p:txBody>
      </p:sp>
      <p:sp>
        <p:nvSpPr>
          <p:cNvPr id="8" name="">
            <a:extLst xmlns:a="http://schemas.openxmlformats.org/drawingml/2006/main">
              <a:ext uri="{FF2B5EF4-FFF2-40B4-BE49-F238E27FC236}">
                <a16:creationId xmlns:a16="http://schemas.microsoft.com/office/drawing/2014/main" id="{ED5DAC71-77EC-4B0C-938D-E224288F339C}"/>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6FF536D-FF40-4D78-AD67-D5710D690989}"/>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Active fingerprints suppress repeated incident creation</a:t>
            </a:r>
          </a:p>
        </p:txBody>
      </p:sp>
      <p:sp>
        <p:nvSpPr>
          <p:cNvPr id="10" name="">
            <a:extLst xmlns:a="http://schemas.openxmlformats.org/drawingml/2006/main">
              <a:ext uri="{FF2B5EF4-FFF2-40B4-BE49-F238E27FC236}">
                <a16:creationId xmlns:a16="http://schemas.microsoft.com/office/drawing/2014/main" id="{667556A7-93B7-4E83-9DFB-984496A183DC}"/>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9FF0A4CB-7082-4F49-9E5B-6660E565F4F8}"/>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09</a:t>
            </a:r>
          </a:p>
        </p:txBody>
      </p:sp>
    </p:spTree>
    <p:extLst>
      <p:ext uri="{BB962C8B-B14F-4D97-AF65-F5344CB8AC3E}">
        <p14:creationId xmlns:p14="http://schemas.microsoft.com/office/powerpoint/2010/main" val="925957962"/>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1058C6-EC1E-400A-8766-350BC449BB62}"/>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10</a:t>
            </a:r>
          </a:p>
        </p:txBody>
      </p:sp>
      <p:sp>
        <p:nvSpPr>
          <p:cNvPr id="2" name="">
            <a:extLst xmlns:a="http://schemas.openxmlformats.org/drawingml/2006/main">
              <a:ext uri="{FF2B5EF4-FFF2-40B4-BE49-F238E27FC236}">
                <a16:creationId xmlns:a16="http://schemas.microsoft.com/office/drawing/2014/main" id="{43E12A48-147F-4C24-B322-3D955735EF76}"/>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Reading the error graph</a:t>
            </a:r>
          </a:p>
        </p:txBody>
      </p:sp>
      <p:sp>
        <p:nvSpPr>
          <p:cNvPr id="3" name="">
            <a:extLst xmlns:a="http://schemas.openxmlformats.org/drawingml/2006/main">
              <a:ext uri="{FF2B5EF4-FFF2-40B4-BE49-F238E27FC236}">
                <a16:creationId xmlns:a16="http://schemas.microsoft.com/office/drawing/2014/main" id="{69602693-7E7D-49C5-9FD2-99155EEF8090}"/>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Illustrative data: a burst crosses the detection threshold</a:t>
            </a:r>
          </a:p>
        </p:txBody>
      </p:sp>
      <p:graphicFrame>
        <p:nvGraphicFramePr>
          <p:cNvPr id="4" name="Chart">
            <a:extLst xmlns:a="http://schemas.openxmlformats.org/drawingml/2006/main">
              <a:ext uri="{FF2B5EF4-FFF2-40B4-BE49-F238E27FC236}">
                <a16:creationId xmlns:a16="http://schemas.microsoft.com/office/drawing/2014/main" id="{FA8A6FCD-4D34-4E2F-AC7E-9017E7419315}"/>
              </a:ext>
            </a:extLst>
          </p:cNvPr>
          <p:cNvGraphicFramePr/>
          <p:nvPr/>
        </p:nvGraphicFramePr>
        <p:xfrm>
          <a:off xmlns:a="http://schemas.openxmlformats.org/drawingml/2006/main" x="609600" y="2381250"/>
          <a:ext xmlns:a="http://schemas.openxmlformats.org/drawingml/2006/main" cx="8096250" cy="3286125"/>
        </p:xfrm>
        <a:graphic xmlns:a="http://schemas.openxmlformats.org/drawingml/2006/main">
          <a:graphicData uri="http://schemas.openxmlformats.org/drawingml/2006/chart">
            <c:chart xmlns:r="http://schemas.openxmlformats.org/officeDocument/2006/relationships" xmlns:c="http://schemas.openxmlformats.org/drawingml/2006/chart" r:id="Recc871bb67424e38"/>
          </a:graphicData>
        </a:graphic>
      </p:graphicFrame>
      <p:sp>
        <p:nvSpPr>
          <p:cNvPr id="5" name="">
            <a:extLst xmlns:a="http://schemas.openxmlformats.org/drawingml/2006/main">
              <a:ext uri="{FF2B5EF4-FFF2-40B4-BE49-F238E27FC236}">
                <a16:creationId xmlns:a16="http://schemas.microsoft.com/office/drawing/2014/main" id="{7A658D24-2777-4A7B-BC29-0DB201452E11}"/>
              </a:ext>
            </a:extLst>
          </p:cNvPr>
          <p:cNvSpPr>
            <a:spLocks xmlns:a="http://schemas.openxmlformats.org/drawingml/2006/main" noGrp="1"/>
          </p:cNvSpPr>
          <p:nvPr/>
        </p:nvSpPr>
        <p:spPr>
          <a:xfrm xmlns:a="http://schemas.openxmlformats.org/drawingml/2006/main">
            <a:off x="9048750" y="24288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87F80"/>
                </a:solidFill>
                <a:latin typeface="Arial"/>
                <a:ea typeface="Arial"/>
                <a:cs typeface="Arial"/>
              </a:defRPr>
            </a:defPPr>
            <a:lvl1pPr>
              <a:defRPr sz="1800" b="1">
                <a:solidFill>
                  <a:srgbClr val="087F80"/>
                </a:solidFill>
                <a:latin typeface="Arial"/>
                <a:ea typeface="Arial"/>
                <a:cs typeface="Arial"/>
              </a:defRPr>
            </a:lvl1pPr>
            <a:lvl2pPr>
              <a:defRPr sz="1800" b="1">
                <a:solidFill>
                  <a:srgbClr val="087F80"/>
                </a:solidFill>
                <a:latin typeface="Arial"/>
                <a:ea typeface="Arial"/>
                <a:cs typeface="Arial"/>
              </a:defRPr>
            </a:lvl2pPr>
            <a:lvl3pPr>
              <a:defRPr sz="1800" b="1">
                <a:solidFill>
                  <a:srgbClr val="087F80"/>
                </a:solidFill>
                <a:latin typeface="Arial"/>
                <a:ea typeface="Arial"/>
                <a:cs typeface="Arial"/>
              </a:defRPr>
            </a:lvl3pPr>
            <a:lvl4pPr>
              <a:defRPr sz="1800" b="1">
                <a:solidFill>
                  <a:srgbClr val="087F80"/>
                </a:solidFill>
                <a:latin typeface="Arial"/>
                <a:ea typeface="Arial"/>
                <a:cs typeface="Arial"/>
              </a:defRPr>
            </a:lvl4pPr>
            <a:lvl5pPr>
              <a:defRPr sz="1800" b="1">
                <a:solidFill>
                  <a:srgbClr val="087F80"/>
                </a:solidFill>
                <a:latin typeface="Arial"/>
                <a:ea typeface="Arial"/>
                <a:cs typeface="Arial"/>
              </a:defRPr>
            </a:lvl5pPr>
            <a:lvl6pPr>
              <a:defRPr sz="1800" b="1">
                <a:solidFill>
                  <a:srgbClr val="087F80"/>
                </a:solidFill>
                <a:latin typeface="Arial"/>
                <a:ea typeface="Arial"/>
                <a:cs typeface="Arial"/>
              </a:defRPr>
            </a:lvl6pPr>
            <a:lvl7pPr>
              <a:defRPr sz="1800" b="1">
                <a:solidFill>
                  <a:srgbClr val="087F80"/>
                </a:solidFill>
                <a:latin typeface="Arial"/>
                <a:ea typeface="Arial"/>
                <a:cs typeface="Arial"/>
              </a:defRPr>
            </a:lvl7pPr>
            <a:lvl8pPr>
              <a:defRPr sz="1800" b="1">
                <a:solidFill>
                  <a:srgbClr val="087F80"/>
                </a:solidFill>
                <a:latin typeface="Arial"/>
                <a:ea typeface="Arial"/>
                <a:cs typeface="Arial"/>
              </a:defRPr>
            </a:lvl8pPr>
            <a:lvl9pPr>
              <a:defRPr sz="1800" b="1">
                <a:solidFill>
                  <a:srgbClr val="087F80"/>
                </a:solidFill>
                <a:latin typeface="Arial"/>
                <a:ea typeface="Arial"/>
                <a:cs typeface="Arial"/>
              </a:defRPr>
            </a:lvl9pPr>
          </a:lstStyle>
          <a:p xmlns:a="http://schemas.openxmlformats.org/drawingml/2006/main">
            <a:pPr>
              <a:defRPr sz="1800" b="1">
                <a:solidFill>
                  <a:srgbClr val="087F80"/>
                </a:solidFill>
                <a:latin typeface="Arial"/>
                <a:ea typeface="Arial"/>
                <a:cs typeface="Arial"/>
              </a:defRPr>
            </a:pPr>
            <a:r>
              <a:rPr sz="1800" b="1">
                <a:solidFill>
                  <a:srgbClr val="087F80"/>
                </a:solidFill>
                <a:latin typeface="Arial"/>
                <a:ea typeface="Arial"/>
                <a:cs typeface="Arial"/>
              </a:rPr>
              <a:t>ILLUSTRATIVE</a:t>
            </a:r>
          </a:p>
          <a:p xmlns:a="http://schemas.openxmlformats.org/drawingml/2006/main">
            <a:pPr>
              <a:defRPr sz="1800" b="1">
                <a:solidFill>
                  <a:srgbClr val="087F80"/>
                </a:solidFill>
                <a:latin typeface="Arial"/>
                <a:ea typeface="Arial"/>
                <a:cs typeface="Arial"/>
              </a:defRPr>
            </a:pPr>
            <a:r>
              <a:rPr sz="1800" b="1">
                <a:solidFill>
                  <a:srgbClr val="087F80"/>
                </a:solidFill>
                <a:latin typeface="Arial"/>
                <a:ea typeface="Arial"/>
                <a:cs typeface="Arial"/>
              </a:rPr>
              <a:t>DATA ONLY</a:t>
            </a:r>
          </a:p>
        </p:txBody>
      </p:sp>
      <p:sp>
        <p:nvSpPr>
          <p:cNvPr id="6" name="">
            <a:extLst xmlns:a="http://schemas.openxmlformats.org/drawingml/2006/main">
              <a:ext uri="{FF2B5EF4-FFF2-40B4-BE49-F238E27FC236}">
                <a16:creationId xmlns:a16="http://schemas.microsoft.com/office/drawing/2014/main" id="{3C31F44E-57B1-4B8C-BEED-2F7E6A16BD01}"/>
              </a:ext>
            </a:extLst>
          </p:cNvPr>
          <p:cNvSpPr>
            <a:spLocks xmlns:a="http://schemas.openxmlformats.org/drawingml/2006/main" noGrp="1"/>
          </p:cNvSpPr>
          <p:nvPr/>
        </p:nvSpPr>
        <p:spPr>
          <a:xfrm xmlns:a="http://schemas.openxmlformats.org/drawingml/2006/main">
            <a:off x="9048750" y="3476625"/>
            <a:ext cx="2476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22B3C"/>
                </a:solidFill>
                <a:latin typeface="Arial"/>
                <a:ea typeface="Arial"/>
                <a:cs typeface="Arial"/>
              </a:defRPr>
            </a:defPPr>
            <a:lvl1pPr>
              <a:defRPr sz="1800" b="0">
                <a:solidFill>
                  <a:srgbClr val="122B3C"/>
                </a:solidFill>
                <a:latin typeface="Arial"/>
                <a:ea typeface="Arial"/>
                <a:cs typeface="Arial"/>
              </a:defRPr>
            </a:lvl1pPr>
            <a:lvl2pPr>
              <a:defRPr sz="1800" b="0">
                <a:solidFill>
                  <a:srgbClr val="122B3C"/>
                </a:solidFill>
                <a:latin typeface="Arial"/>
                <a:ea typeface="Arial"/>
                <a:cs typeface="Arial"/>
              </a:defRPr>
            </a:lvl2pPr>
            <a:lvl3pPr>
              <a:defRPr sz="1800" b="0">
                <a:solidFill>
                  <a:srgbClr val="122B3C"/>
                </a:solidFill>
                <a:latin typeface="Arial"/>
                <a:ea typeface="Arial"/>
                <a:cs typeface="Arial"/>
              </a:defRPr>
            </a:lvl3pPr>
            <a:lvl4pPr>
              <a:defRPr sz="1800" b="0">
                <a:solidFill>
                  <a:srgbClr val="122B3C"/>
                </a:solidFill>
                <a:latin typeface="Arial"/>
                <a:ea typeface="Arial"/>
                <a:cs typeface="Arial"/>
              </a:defRPr>
            </a:lvl4pPr>
            <a:lvl5pPr>
              <a:defRPr sz="1800" b="0">
                <a:solidFill>
                  <a:srgbClr val="122B3C"/>
                </a:solidFill>
                <a:latin typeface="Arial"/>
                <a:ea typeface="Arial"/>
                <a:cs typeface="Arial"/>
              </a:defRPr>
            </a:lvl5pPr>
            <a:lvl6pPr>
              <a:defRPr sz="1800" b="0">
                <a:solidFill>
                  <a:srgbClr val="122B3C"/>
                </a:solidFill>
                <a:latin typeface="Arial"/>
                <a:ea typeface="Arial"/>
                <a:cs typeface="Arial"/>
              </a:defRPr>
            </a:lvl6pPr>
            <a:lvl7pPr>
              <a:defRPr sz="1800" b="0">
                <a:solidFill>
                  <a:srgbClr val="122B3C"/>
                </a:solidFill>
                <a:latin typeface="Arial"/>
                <a:ea typeface="Arial"/>
                <a:cs typeface="Arial"/>
              </a:defRPr>
            </a:lvl7pPr>
            <a:lvl8pPr>
              <a:defRPr sz="1800" b="0">
                <a:solidFill>
                  <a:srgbClr val="122B3C"/>
                </a:solidFill>
                <a:latin typeface="Arial"/>
                <a:ea typeface="Arial"/>
                <a:cs typeface="Arial"/>
              </a:defRPr>
            </a:lvl8pPr>
            <a:lvl9pPr>
              <a:defRPr sz="1800" b="0">
                <a:solidFill>
                  <a:srgbClr val="122B3C"/>
                </a:solidFill>
                <a:latin typeface="Arial"/>
                <a:ea typeface="Arial"/>
                <a:cs typeface="Arial"/>
              </a:defRPr>
            </a:lvl9pPr>
          </a:lstStyle>
          <a:p xmlns:a="http://schemas.openxmlformats.org/drawingml/2006/main">
            <a:pPr>
              <a:defRPr sz="1800" b="0">
                <a:solidFill>
                  <a:srgbClr val="122B3C"/>
                </a:solidFill>
                <a:latin typeface="Arial"/>
                <a:ea typeface="Arial"/>
                <a:cs typeface="Arial"/>
              </a:defRPr>
            </a:pPr>
            <a:r>
              <a:rPr sz="1800" b="0">
                <a:solidFill>
                  <a:srgbClr val="122B3C"/>
                </a:solidFill>
                <a:latin typeface="Arial"/>
                <a:ea typeface="Arial"/>
                <a:cs typeface="Arial"/>
              </a:rPr>
              <a:t>Minute 4: rolling count = 9.</a:t>
            </a:r>
          </a:p>
          <a:p xmlns:a="http://schemas.openxmlformats.org/drawingml/2006/main">
            <a:r>
              <a:t/>
            </a:r>
          </a:p>
          <a:p xmlns:a="http://schemas.openxmlformats.org/drawingml/2006/main">
            <a:pPr>
              <a:defRPr sz="1800" b="0">
                <a:solidFill>
                  <a:srgbClr val="122B3C"/>
                </a:solidFill>
                <a:latin typeface="Arial"/>
                <a:ea typeface="Arial"/>
                <a:cs typeface="Arial"/>
              </a:defRPr>
            </a:pPr>
            <a:r>
              <a:rPr sz="1800" b="0">
                <a:solidFill>
                  <a:srgbClr val="122B3C"/>
                </a:solidFill>
                <a:latin typeface="Arial"/>
                <a:ea typeface="Arial"/>
                <a:cs typeface="Arial"/>
              </a:rPr>
              <a:t>Existing incidents do not auto-upgrade.</a:t>
            </a:r>
          </a:p>
        </p:txBody>
      </p:sp>
      <p:sp>
        <p:nvSpPr>
          <p:cNvPr id="7" name="">
            <a:extLst xmlns:a="http://schemas.openxmlformats.org/drawingml/2006/main">
              <a:ext uri="{FF2B5EF4-FFF2-40B4-BE49-F238E27FC236}">
                <a16:creationId xmlns:a16="http://schemas.microsoft.com/office/drawing/2014/main" id="{A2782AA0-25D5-41AB-9D7F-D90A5EDDAF7E}"/>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8" name="">
            <a:extLst xmlns:a="http://schemas.openxmlformats.org/drawingml/2006/main">
              <a:ext uri="{FF2B5EF4-FFF2-40B4-BE49-F238E27FC236}">
                <a16:creationId xmlns:a16="http://schemas.microsoft.com/office/drawing/2014/main" id="{7F3870B8-E980-4111-B63B-52464BA9F0C7}"/>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10</a:t>
            </a:r>
          </a:p>
        </p:txBody>
      </p:sp>
    </p:spTree>
    <p:extLst>
      <p:ext uri="{BB962C8B-B14F-4D97-AF65-F5344CB8AC3E}">
        <p14:creationId xmlns:p14="http://schemas.microsoft.com/office/powerpoint/2010/main" val="1219842749"/>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D17EB5-1193-4FFC-842D-4E030B801863}"/>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11</a:t>
            </a:r>
          </a:p>
        </p:txBody>
      </p:sp>
      <p:sp>
        <p:nvSpPr>
          <p:cNvPr id="2" name="">
            <a:extLst xmlns:a="http://schemas.openxmlformats.org/drawingml/2006/main">
              <a:ext uri="{FF2B5EF4-FFF2-40B4-BE49-F238E27FC236}">
                <a16:creationId xmlns:a16="http://schemas.microsoft.com/office/drawing/2014/main" id="{8169D4EA-2D9F-40B4-AAF1-CBA81C5514FF}"/>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Reading the latency graph</a:t>
            </a:r>
          </a:p>
        </p:txBody>
      </p:sp>
      <p:sp>
        <p:nvSpPr>
          <p:cNvPr id="3" name="">
            <a:extLst xmlns:a="http://schemas.openxmlformats.org/drawingml/2006/main">
              <a:ext uri="{FF2B5EF4-FFF2-40B4-BE49-F238E27FC236}">
                <a16:creationId xmlns:a16="http://schemas.microsoft.com/office/drawing/2014/main" id="{EF0CB4B1-55AB-4388-9C2B-DD0DC74E2C78}"/>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Illustrative data: compare timing without assuming causation</a:t>
            </a:r>
          </a:p>
        </p:txBody>
      </p:sp>
      <p:graphicFrame>
        <p:nvGraphicFramePr>
          <p:cNvPr id="4" name="Chart">
            <a:extLst xmlns:a="http://schemas.openxmlformats.org/drawingml/2006/main">
              <a:ext uri="{FF2B5EF4-FFF2-40B4-BE49-F238E27FC236}">
                <a16:creationId xmlns:a16="http://schemas.microsoft.com/office/drawing/2014/main" id="{1A94D563-836E-4DAA-A67C-73535EBDB5BB}"/>
              </a:ext>
            </a:extLst>
          </p:cNvPr>
          <p:cNvGraphicFramePr/>
          <p:nvPr/>
        </p:nvGraphicFramePr>
        <p:xfrm>
          <a:off xmlns:a="http://schemas.openxmlformats.org/drawingml/2006/main" x="609600" y="2381250"/>
          <a:ext xmlns:a="http://schemas.openxmlformats.org/drawingml/2006/main" cx="8096250" cy="3286125"/>
        </p:xfrm>
        <a:graphic xmlns:a="http://schemas.openxmlformats.org/drawingml/2006/main">
          <a:graphicData uri="http://schemas.openxmlformats.org/drawingml/2006/chart">
            <c:chart xmlns:r="http://schemas.openxmlformats.org/officeDocument/2006/relationships" xmlns:c="http://schemas.openxmlformats.org/drawingml/2006/chart" r:id="Rf56a7bde5d2a4332"/>
          </a:graphicData>
        </a:graphic>
      </p:graphicFrame>
      <p:sp>
        <p:nvSpPr>
          <p:cNvPr id="5" name="">
            <a:extLst xmlns:a="http://schemas.openxmlformats.org/drawingml/2006/main">
              <a:ext uri="{FF2B5EF4-FFF2-40B4-BE49-F238E27FC236}">
                <a16:creationId xmlns:a16="http://schemas.microsoft.com/office/drawing/2014/main" id="{B9A0453E-288B-43F4-9A8B-139075C3C0ED}"/>
              </a:ext>
            </a:extLst>
          </p:cNvPr>
          <p:cNvSpPr>
            <a:spLocks xmlns:a="http://schemas.openxmlformats.org/drawingml/2006/main" noGrp="1"/>
          </p:cNvSpPr>
          <p:nvPr/>
        </p:nvSpPr>
        <p:spPr>
          <a:xfrm xmlns:a="http://schemas.openxmlformats.org/drawingml/2006/main">
            <a:off x="9048750" y="24288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87F80"/>
                </a:solidFill>
                <a:latin typeface="Arial"/>
                <a:ea typeface="Arial"/>
                <a:cs typeface="Arial"/>
              </a:defRPr>
            </a:defPPr>
            <a:lvl1pPr>
              <a:defRPr sz="1800" b="1">
                <a:solidFill>
                  <a:srgbClr val="087F80"/>
                </a:solidFill>
                <a:latin typeface="Arial"/>
                <a:ea typeface="Arial"/>
                <a:cs typeface="Arial"/>
              </a:defRPr>
            </a:lvl1pPr>
            <a:lvl2pPr>
              <a:defRPr sz="1800" b="1">
                <a:solidFill>
                  <a:srgbClr val="087F80"/>
                </a:solidFill>
                <a:latin typeface="Arial"/>
                <a:ea typeface="Arial"/>
                <a:cs typeface="Arial"/>
              </a:defRPr>
            </a:lvl2pPr>
            <a:lvl3pPr>
              <a:defRPr sz="1800" b="1">
                <a:solidFill>
                  <a:srgbClr val="087F80"/>
                </a:solidFill>
                <a:latin typeface="Arial"/>
                <a:ea typeface="Arial"/>
                <a:cs typeface="Arial"/>
              </a:defRPr>
            </a:lvl3pPr>
            <a:lvl4pPr>
              <a:defRPr sz="1800" b="1">
                <a:solidFill>
                  <a:srgbClr val="087F80"/>
                </a:solidFill>
                <a:latin typeface="Arial"/>
                <a:ea typeface="Arial"/>
                <a:cs typeface="Arial"/>
              </a:defRPr>
            </a:lvl4pPr>
            <a:lvl5pPr>
              <a:defRPr sz="1800" b="1">
                <a:solidFill>
                  <a:srgbClr val="087F80"/>
                </a:solidFill>
                <a:latin typeface="Arial"/>
                <a:ea typeface="Arial"/>
                <a:cs typeface="Arial"/>
              </a:defRPr>
            </a:lvl5pPr>
            <a:lvl6pPr>
              <a:defRPr sz="1800" b="1">
                <a:solidFill>
                  <a:srgbClr val="087F80"/>
                </a:solidFill>
                <a:latin typeface="Arial"/>
                <a:ea typeface="Arial"/>
                <a:cs typeface="Arial"/>
              </a:defRPr>
            </a:lvl6pPr>
            <a:lvl7pPr>
              <a:defRPr sz="1800" b="1">
                <a:solidFill>
                  <a:srgbClr val="087F80"/>
                </a:solidFill>
                <a:latin typeface="Arial"/>
                <a:ea typeface="Arial"/>
                <a:cs typeface="Arial"/>
              </a:defRPr>
            </a:lvl7pPr>
            <a:lvl8pPr>
              <a:defRPr sz="1800" b="1">
                <a:solidFill>
                  <a:srgbClr val="087F80"/>
                </a:solidFill>
                <a:latin typeface="Arial"/>
                <a:ea typeface="Arial"/>
                <a:cs typeface="Arial"/>
              </a:defRPr>
            </a:lvl8pPr>
            <a:lvl9pPr>
              <a:defRPr sz="1800" b="1">
                <a:solidFill>
                  <a:srgbClr val="087F80"/>
                </a:solidFill>
                <a:latin typeface="Arial"/>
                <a:ea typeface="Arial"/>
                <a:cs typeface="Arial"/>
              </a:defRPr>
            </a:lvl9pPr>
          </a:lstStyle>
          <a:p xmlns:a="http://schemas.openxmlformats.org/drawingml/2006/main">
            <a:pPr>
              <a:defRPr sz="1800" b="1">
                <a:solidFill>
                  <a:srgbClr val="087F80"/>
                </a:solidFill>
                <a:latin typeface="Arial"/>
                <a:ea typeface="Arial"/>
                <a:cs typeface="Arial"/>
              </a:defRPr>
            </a:pPr>
            <a:r>
              <a:rPr sz="1800" b="1">
                <a:solidFill>
                  <a:srgbClr val="087F80"/>
                </a:solidFill>
                <a:latin typeface="Arial"/>
                <a:ea typeface="Arial"/>
                <a:cs typeface="Arial"/>
              </a:rPr>
              <a:t>ILLUSTRATIVE</a:t>
            </a:r>
          </a:p>
          <a:p xmlns:a="http://schemas.openxmlformats.org/drawingml/2006/main">
            <a:pPr>
              <a:defRPr sz="1800" b="1">
                <a:solidFill>
                  <a:srgbClr val="087F80"/>
                </a:solidFill>
                <a:latin typeface="Arial"/>
                <a:ea typeface="Arial"/>
                <a:cs typeface="Arial"/>
              </a:defRPr>
            </a:pPr>
            <a:r>
              <a:rPr sz="1800" b="1">
                <a:solidFill>
                  <a:srgbClr val="087F80"/>
                </a:solidFill>
                <a:latin typeface="Arial"/>
                <a:ea typeface="Arial"/>
                <a:cs typeface="Arial"/>
              </a:rPr>
              <a:t>DATA ONLY</a:t>
            </a:r>
          </a:p>
        </p:txBody>
      </p:sp>
      <p:sp>
        <p:nvSpPr>
          <p:cNvPr id="6" name="">
            <a:extLst xmlns:a="http://schemas.openxmlformats.org/drawingml/2006/main">
              <a:ext uri="{FF2B5EF4-FFF2-40B4-BE49-F238E27FC236}">
                <a16:creationId xmlns:a16="http://schemas.microsoft.com/office/drawing/2014/main" id="{77786934-8A14-4F7C-87C1-B9C35FE06C77}"/>
              </a:ext>
            </a:extLst>
          </p:cNvPr>
          <p:cNvSpPr>
            <a:spLocks xmlns:a="http://schemas.openxmlformats.org/drawingml/2006/main" noGrp="1"/>
          </p:cNvSpPr>
          <p:nvPr/>
        </p:nvSpPr>
        <p:spPr>
          <a:xfrm xmlns:a="http://schemas.openxmlformats.org/drawingml/2006/main">
            <a:off x="9048750" y="3476625"/>
            <a:ext cx="2476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22B3C"/>
                </a:solidFill>
                <a:latin typeface="Arial"/>
                <a:ea typeface="Arial"/>
                <a:cs typeface="Arial"/>
              </a:defRPr>
            </a:defPPr>
            <a:lvl1pPr>
              <a:defRPr sz="1800" b="0">
                <a:solidFill>
                  <a:srgbClr val="122B3C"/>
                </a:solidFill>
                <a:latin typeface="Arial"/>
                <a:ea typeface="Arial"/>
                <a:cs typeface="Arial"/>
              </a:defRPr>
            </a:lvl1pPr>
            <a:lvl2pPr>
              <a:defRPr sz="1800" b="0">
                <a:solidFill>
                  <a:srgbClr val="122B3C"/>
                </a:solidFill>
                <a:latin typeface="Arial"/>
                <a:ea typeface="Arial"/>
                <a:cs typeface="Arial"/>
              </a:defRPr>
            </a:lvl2pPr>
            <a:lvl3pPr>
              <a:defRPr sz="1800" b="0">
                <a:solidFill>
                  <a:srgbClr val="122B3C"/>
                </a:solidFill>
                <a:latin typeface="Arial"/>
                <a:ea typeface="Arial"/>
                <a:cs typeface="Arial"/>
              </a:defRPr>
            </a:lvl3pPr>
            <a:lvl4pPr>
              <a:defRPr sz="1800" b="0">
                <a:solidFill>
                  <a:srgbClr val="122B3C"/>
                </a:solidFill>
                <a:latin typeface="Arial"/>
                <a:ea typeface="Arial"/>
                <a:cs typeface="Arial"/>
              </a:defRPr>
            </a:lvl4pPr>
            <a:lvl5pPr>
              <a:defRPr sz="1800" b="0">
                <a:solidFill>
                  <a:srgbClr val="122B3C"/>
                </a:solidFill>
                <a:latin typeface="Arial"/>
                <a:ea typeface="Arial"/>
                <a:cs typeface="Arial"/>
              </a:defRPr>
            </a:lvl5pPr>
            <a:lvl6pPr>
              <a:defRPr sz="1800" b="0">
                <a:solidFill>
                  <a:srgbClr val="122B3C"/>
                </a:solidFill>
                <a:latin typeface="Arial"/>
                <a:ea typeface="Arial"/>
                <a:cs typeface="Arial"/>
              </a:defRPr>
            </a:lvl6pPr>
            <a:lvl7pPr>
              <a:defRPr sz="1800" b="0">
                <a:solidFill>
                  <a:srgbClr val="122B3C"/>
                </a:solidFill>
                <a:latin typeface="Arial"/>
                <a:ea typeface="Arial"/>
                <a:cs typeface="Arial"/>
              </a:defRPr>
            </a:lvl7pPr>
            <a:lvl8pPr>
              <a:defRPr sz="1800" b="0">
                <a:solidFill>
                  <a:srgbClr val="122B3C"/>
                </a:solidFill>
                <a:latin typeface="Arial"/>
                <a:ea typeface="Arial"/>
                <a:cs typeface="Arial"/>
              </a:defRPr>
            </a:lvl8pPr>
            <a:lvl9pPr>
              <a:defRPr sz="1800" b="0">
                <a:solidFill>
                  <a:srgbClr val="122B3C"/>
                </a:solidFill>
                <a:latin typeface="Arial"/>
                <a:ea typeface="Arial"/>
                <a:cs typeface="Arial"/>
              </a:defRPr>
            </a:lvl9pPr>
          </a:lstStyle>
          <a:p xmlns:a="http://schemas.openxmlformats.org/drawingml/2006/main">
            <a:pPr>
              <a:defRPr sz="1800" b="0">
                <a:solidFill>
                  <a:srgbClr val="122B3C"/>
                </a:solidFill>
                <a:latin typeface="Arial"/>
                <a:ea typeface="Arial"/>
                <a:cs typeface="Arial"/>
              </a:defRPr>
            </a:pPr>
            <a:r>
              <a:rPr sz="1800" b="0">
                <a:solidFill>
                  <a:srgbClr val="122B3C"/>
                </a:solidFill>
                <a:latin typeface="Arial"/>
                <a:ea typeface="Arial"/>
                <a:cs typeface="Arial"/>
              </a:rPr>
              <a:t>Fictional release: minute 3.</a:t>
            </a:r>
          </a:p>
          <a:p xmlns:a="http://schemas.openxmlformats.org/drawingml/2006/main">
            <a:r>
              <a:t/>
            </a:r>
          </a:p>
          <a:p xmlns:a="http://schemas.openxmlformats.org/drawingml/2006/main">
            <a:pPr>
              <a:defRPr sz="1800" b="0">
                <a:solidFill>
                  <a:srgbClr val="122B3C"/>
                </a:solidFill>
                <a:latin typeface="Arial"/>
                <a:ea typeface="Arial"/>
                <a:cs typeface="Arial"/>
              </a:defRPr>
            </a:pPr>
            <a:r>
              <a:rPr sz="1800" b="0">
                <a:solidFill>
                  <a:srgbClr val="122B3C"/>
                </a:solidFill>
                <a:latin typeface="Arial"/>
                <a:ea typeface="Arial"/>
                <a:cs typeface="Arial"/>
              </a:rPr>
              <a:t>Fictional mitigation: minute 7.</a:t>
            </a:r>
          </a:p>
        </p:txBody>
      </p:sp>
      <p:sp>
        <p:nvSpPr>
          <p:cNvPr id="7" name="">
            <a:extLst xmlns:a="http://schemas.openxmlformats.org/drawingml/2006/main">
              <a:ext uri="{FF2B5EF4-FFF2-40B4-BE49-F238E27FC236}">
                <a16:creationId xmlns:a16="http://schemas.microsoft.com/office/drawing/2014/main" id="{7C72EA3A-8DDB-49CD-8C52-0B43AFAADED7}"/>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8" name="">
            <a:extLst xmlns:a="http://schemas.openxmlformats.org/drawingml/2006/main">
              <a:ext uri="{FF2B5EF4-FFF2-40B4-BE49-F238E27FC236}">
                <a16:creationId xmlns:a16="http://schemas.microsoft.com/office/drawing/2014/main" id="{4BE40565-7DC4-4523-8D3B-27B3BE863C7C}"/>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11</a:t>
            </a:r>
          </a:p>
        </p:txBody>
      </p:sp>
    </p:spTree>
    <p:extLst>
      <p:ext uri="{BB962C8B-B14F-4D97-AF65-F5344CB8AC3E}">
        <p14:creationId xmlns:p14="http://schemas.microsoft.com/office/powerpoint/2010/main" val="1101747323"/>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FF68413-D91B-46AB-93D8-B2162117A67D}"/>
              </a:ext>
            </a:extLst>
          </p:cNvPr>
          <p:cNvCxnSpPr>
            <a:stCxn xmlns:a="http://schemas.openxmlformats.org/drawingml/2006/main" id="7" idx="3"/>
            <a:endCxn xmlns:a="http://schemas.openxmlformats.org/drawingml/2006/main" id="9" idx="1"/>
          </p:cNvCxnSpPr>
          <p:nvPr/>
        </p:nvCxnSpPr>
        <p:spPr>
          <a:xfrm xmlns:a="http://schemas.openxmlformats.org/drawingml/2006/main">
            <a:off x="8767763"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E2EB05A2-6D49-42A0-AC8D-ECBC2B143B81}"/>
              </a:ext>
            </a:extLst>
          </p:cNvPr>
          <p:cNvCxnSpPr>
            <a:stCxn xmlns:a="http://schemas.openxmlformats.org/drawingml/2006/main" id="5" idx="3"/>
            <a:endCxn xmlns:a="http://schemas.openxmlformats.org/drawingml/2006/main" id="7" idx="1"/>
          </p:cNvCxnSpPr>
          <p:nvPr/>
        </p:nvCxnSpPr>
        <p:spPr>
          <a:xfrm xmlns:a="http://schemas.openxmlformats.org/drawingml/2006/main">
            <a:off x="5953126" y="3009900"/>
            <a:ext cx="285749"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6" name="">
            <a:extLst xmlns:a="http://schemas.openxmlformats.org/drawingml/2006/main">
              <a:ext uri="{FF2B5EF4-FFF2-40B4-BE49-F238E27FC236}">
                <a16:creationId xmlns:a16="http://schemas.microsoft.com/office/drawing/2014/main" id="{778124B8-C458-42B1-9EC0-B12E4C8771F4}"/>
              </a:ext>
            </a:extLst>
          </p:cNvPr>
          <p:cNvCxnSpPr>
            <a:stCxn xmlns:a="http://schemas.openxmlformats.org/drawingml/2006/main" id="4" idx="3"/>
            <a:endCxn xmlns:a="http://schemas.openxmlformats.org/drawingml/2006/main" id="5" idx="1"/>
          </p:cNvCxnSpPr>
          <p:nvPr/>
        </p:nvCxnSpPr>
        <p:spPr>
          <a:xfrm xmlns:a="http://schemas.openxmlformats.org/drawingml/2006/main">
            <a:off x="3138488"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4" name="">
            <a:extLst xmlns:a="http://schemas.openxmlformats.org/drawingml/2006/main">
              <a:ext uri="{FF2B5EF4-FFF2-40B4-BE49-F238E27FC236}">
                <a16:creationId xmlns:a16="http://schemas.microsoft.com/office/drawing/2014/main" id="{C61378A5-A57C-4B21-95E4-A554491C6244}"/>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12</a:t>
            </a:r>
          </a:p>
        </p:txBody>
      </p:sp>
      <p:sp>
        <p:nvSpPr>
          <p:cNvPr id="2" name="">
            <a:extLst xmlns:a="http://schemas.openxmlformats.org/drawingml/2006/main">
              <a:ext uri="{FF2B5EF4-FFF2-40B4-BE49-F238E27FC236}">
                <a16:creationId xmlns:a16="http://schemas.microsoft.com/office/drawing/2014/main" id="{1AAA9B0E-6344-41F7-8D75-4ED01697E81C}"/>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Incident lifecycle</a:t>
            </a:r>
          </a:p>
        </p:txBody>
      </p:sp>
      <p:sp>
        <p:nvSpPr>
          <p:cNvPr id="3" name="">
            <a:extLst xmlns:a="http://schemas.openxmlformats.org/drawingml/2006/main">
              <a:ext uri="{FF2B5EF4-FFF2-40B4-BE49-F238E27FC236}">
                <a16:creationId xmlns:a16="http://schemas.microsoft.com/office/drawing/2014/main" id="{30B7B427-EB5B-4C9C-AF4B-3F32ECBA01FC}"/>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State changes make the investigation visible</a:t>
            </a:r>
          </a:p>
        </p:txBody>
      </p:sp>
      <p:sp>
        <p:nvSpPr>
          <p:cNvPr id="4" name="">
            <a:extLst xmlns:a="http://schemas.openxmlformats.org/drawingml/2006/main">
              <a:ext uri="{FF2B5EF4-FFF2-40B4-BE49-F238E27FC236}">
                <a16:creationId xmlns:a16="http://schemas.microsoft.com/office/drawing/2014/main" id="{622AB4DF-D105-4504-8AC8-04E764A578B2}"/>
              </a:ext>
            </a:extLst>
          </p:cNvPr>
          <p:cNvSpPr>
            <a:spLocks xmlns:a="http://schemas.openxmlformats.org/drawingml/2006/main" noGrp="1"/>
          </p:cNvSpPr>
          <p:nvPr/>
        </p:nvSpPr>
        <p:spPr>
          <a:xfrm xmlns:a="http://schemas.openxmlformats.org/drawingml/2006/main">
            <a:off x="609600"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3E7A1C66-DFF8-4C25-AAC4-943A827D1DF8}"/>
              </a:ext>
            </a:extLst>
          </p:cNvPr>
          <p:cNvSpPr>
            <a:spLocks xmlns:a="http://schemas.openxmlformats.org/drawingml/2006/main" noGrp="1"/>
          </p:cNvSpPr>
          <p:nvPr/>
        </p:nvSpPr>
        <p:spPr>
          <a:xfrm xmlns:a="http://schemas.openxmlformats.org/drawingml/2006/main">
            <a:off x="3424238"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Investigating</a:t>
            </a:r>
          </a:p>
        </p:txBody>
      </p:sp>
      <p:sp>
        <p:nvSpPr>
          <p:cNvPr id="7" name="">
            <a:extLst xmlns:a="http://schemas.openxmlformats.org/drawingml/2006/main">
              <a:ext uri="{FF2B5EF4-FFF2-40B4-BE49-F238E27FC236}">
                <a16:creationId xmlns:a16="http://schemas.microsoft.com/office/drawing/2014/main" id="{A32FD47C-B18A-499E-983E-211ADB8492EF}"/>
              </a:ext>
            </a:extLst>
          </p:cNvPr>
          <p:cNvSpPr>
            <a:spLocks xmlns:a="http://schemas.openxmlformats.org/drawingml/2006/main" noGrp="1"/>
          </p:cNvSpPr>
          <p:nvPr/>
        </p:nvSpPr>
        <p:spPr>
          <a:xfrm xmlns:a="http://schemas.openxmlformats.org/drawingml/2006/main">
            <a:off x="6238875"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Resolved</a:t>
            </a:r>
          </a:p>
        </p:txBody>
      </p:sp>
      <p:sp>
        <p:nvSpPr>
          <p:cNvPr id="9" name="">
            <a:extLst xmlns:a="http://schemas.openxmlformats.org/drawingml/2006/main">
              <a:ext uri="{FF2B5EF4-FFF2-40B4-BE49-F238E27FC236}">
                <a16:creationId xmlns:a16="http://schemas.microsoft.com/office/drawing/2014/main" id="{A8C60A5B-6E41-4A15-B7C9-C6CA3CD1D89A}"/>
              </a:ext>
            </a:extLst>
          </p:cNvPr>
          <p:cNvSpPr>
            <a:spLocks xmlns:a="http://schemas.openxmlformats.org/drawingml/2006/main" noGrp="1"/>
          </p:cNvSpPr>
          <p:nvPr/>
        </p:nvSpPr>
        <p:spPr>
          <a:xfrm xmlns:a="http://schemas.openxmlformats.org/drawingml/2006/main">
            <a:off x="9053513"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May reopen</a:t>
            </a:r>
          </a:p>
        </p:txBody>
      </p:sp>
      <p:sp>
        <p:nvSpPr>
          <p:cNvPr id="11" name="">
            <a:extLst xmlns:a="http://schemas.openxmlformats.org/drawingml/2006/main">
              <a:ext uri="{FF2B5EF4-FFF2-40B4-BE49-F238E27FC236}">
                <a16:creationId xmlns:a16="http://schemas.microsoft.com/office/drawing/2014/main" id="{5326C384-7C49-48E8-A308-18A3375AA320}"/>
              </a:ext>
            </a:extLst>
          </p:cNvPr>
          <p:cNvSpPr>
            <a:spLocks xmlns:a="http://schemas.openxmlformats.org/drawingml/2006/main" noGrp="1"/>
          </p:cNvSpPr>
          <p:nvPr/>
        </p:nvSpPr>
        <p:spPr>
          <a:xfrm xmlns:a="http://schemas.openxmlformats.org/drawingml/2006/main">
            <a:off x="609600" y="4000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22B3C"/>
                </a:solidFill>
                <a:latin typeface="Arial"/>
                <a:ea typeface="Arial"/>
                <a:cs typeface="Arial"/>
              </a:defRPr>
            </a:defPPr>
            <a:lvl1pPr>
              <a:defRPr sz="1875" b="0">
                <a:solidFill>
                  <a:srgbClr val="122B3C"/>
                </a:solidFill>
                <a:latin typeface="Arial"/>
                <a:ea typeface="Arial"/>
                <a:cs typeface="Arial"/>
              </a:defRPr>
            </a:lvl1pPr>
            <a:lvl2pPr>
              <a:defRPr sz="1875" b="0">
                <a:solidFill>
                  <a:srgbClr val="122B3C"/>
                </a:solidFill>
                <a:latin typeface="Arial"/>
                <a:ea typeface="Arial"/>
                <a:cs typeface="Arial"/>
              </a:defRPr>
            </a:lvl2pPr>
            <a:lvl3pPr>
              <a:defRPr sz="1875" b="0">
                <a:solidFill>
                  <a:srgbClr val="122B3C"/>
                </a:solidFill>
                <a:latin typeface="Arial"/>
                <a:ea typeface="Arial"/>
                <a:cs typeface="Arial"/>
              </a:defRPr>
            </a:lvl3pPr>
            <a:lvl4pPr>
              <a:defRPr sz="1875" b="0">
                <a:solidFill>
                  <a:srgbClr val="122B3C"/>
                </a:solidFill>
                <a:latin typeface="Arial"/>
                <a:ea typeface="Arial"/>
                <a:cs typeface="Arial"/>
              </a:defRPr>
            </a:lvl4pPr>
            <a:lvl5pPr>
              <a:defRPr sz="1875" b="0">
                <a:solidFill>
                  <a:srgbClr val="122B3C"/>
                </a:solidFill>
                <a:latin typeface="Arial"/>
                <a:ea typeface="Arial"/>
                <a:cs typeface="Arial"/>
              </a:defRPr>
            </a:lvl5pPr>
            <a:lvl6pPr>
              <a:defRPr sz="1875" b="0">
                <a:solidFill>
                  <a:srgbClr val="122B3C"/>
                </a:solidFill>
                <a:latin typeface="Arial"/>
                <a:ea typeface="Arial"/>
                <a:cs typeface="Arial"/>
              </a:defRPr>
            </a:lvl6pPr>
            <a:lvl7pPr>
              <a:defRPr sz="1875" b="0">
                <a:solidFill>
                  <a:srgbClr val="122B3C"/>
                </a:solidFill>
                <a:latin typeface="Arial"/>
                <a:ea typeface="Arial"/>
                <a:cs typeface="Arial"/>
              </a:defRPr>
            </a:lvl7pPr>
            <a:lvl8pPr>
              <a:defRPr sz="1875" b="0">
                <a:solidFill>
                  <a:srgbClr val="122B3C"/>
                </a:solidFill>
                <a:latin typeface="Arial"/>
                <a:ea typeface="Arial"/>
                <a:cs typeface="Arial"/>
              </a:defRPr>
            </a:lvl8pPr>
            <a:lvl9pPr>
              <a:defRPr sz="1875" b="0">
                <a:solidFill>
                  <a:srgbClr val="122B3C"/>
                </a:solidFill>
                <a:latin typeface="Arial"/>
                <a:ea typeface="Arial"/>
                <a:cs typeface="Arial"/>
              </a:defRPr>
            </a:lvl9pPr>
          </a:lstStyle>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Open: a new rule match or manual incident</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Investigating: an operator is examining evidence</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Resolved: an operator records closure; reopening is allowed</a:t>
            </a:r>
          </a:p>
        </p:txBody>
      </p:sp>
      <p:sp>
        <p:nvSpPr>
          <p:cNvPr id="12" name="">
            <a:extLst xmlns:a="http://schemas.openxmlformats.org/drawingml/2006/main">
              <a:ext uri="{FF2B5EF4-FFF2-40B4-BE49-F238E27FC236}">
                <a16:creationId xmlns:a16="http://schemas.microsoft.com/office/drawing/2014/main" id="{56E727F8-E71D-4569-B9F5-CE2633D7A37C}"/>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3" name="">
            <a:extLst xmlns:a="http://schemas.openxmlformats.org/drawingml/2006/main">
              <a:ext uri="{FF2B5EF4-FFF2-40B4-BE49-F238E27FC236}">
                <a16:creationId xmlns:a16="http://schemas.microsoft.com/office/drawing/2014/main" id="{FAFE9F4A-A0E7-4C07-BDC2-C0E885FF0A99}"/>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12</a:t>
            </a:r>
          </a:p>
        </p:txBody>
      </p:sp>
    </p:spTree>
    <p:extLst>
      <p:ext uri="{BB962C8B-B14F-4D97-AF65-F5344CB8AC3E}">
        <p14:creationId xmlns:p14="http://schemas.microsoft.com/office/powerpoint/2010/main" val="713166406"/>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732D93-F800-4A13-86D1-ACD475BA3D78}"/>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13</a:t>
            </a:r>
          </a:p>
        </p:txBody>
      </p:sp>
      <p:sp>
        <p:nvSpPr>
          <p:cNvPr id="2" name="">
            <a:extLst xmlns:a="http://schemas.openxmlformats.org/drawingml/2006/main">
              <a:ext uri="{FF2B5EF4-FFF2-40B4-BE49-F238E27FC236}">
                <a16:creationId xmlns:a16="http://schemas.microsoft.com/office/drawing/2014/main" id="{DA60C4B9-190A-4E4C-9AD2-B40621A50058}"/>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Evidence-driven analysis</a:t>
            </a:r>
          </a:p>
        </p:txBody>
      </p:sp>
      <p:sp>
        <p:nvSpPr>
          <p:cNvPr id="3" name="">
            <a:extLst xmlns:a="http://schemas.openxmlformats.org/drawingml/2006/main">
              <a:ext uri="{FF2B5EF4-FFF2-40B4-BE49-F238E27FC236}">
                <a16:creationId xmlns:a16="http://schemas.microsoft.com/office/drawing/2014/main" id="{69F4DEA6-B420-4C2A-B4E6-67BFE09401F6}"/>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 bounded evidence set makes the explanation inspectable</a:t>
            </a:r>
          </a:p>
        </p:txBody>
      </p:sp>
      <p:sp>
        <p:nvSpPr>
          <p:cNvPr id="4" name="">
            <a:extLst xmlns:a="http://schemas.openxmlformats.org/drawingml/2006/main">
              <a:ext uri="{FF2B5EF4-FFF2-40B4-BE49-F238E27FC236}">
                <a16:creationId xmlns:a16="http://schemas.microsoft.com/office/drawing/2014/main" id="{39D91366-B839-4C5C-8BD0-01A4C1CFC8E5}"/>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37EC1A1-6AC4-4070-B64C-595967B334CA}"/>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Up to 30 service logs around the incident</a:t>
            </a:r>
          </a:p>
        </p:txBody>
      </p:sp>
      <p:sp>
        <p:nvSpPr>
          <p:cNvPr id="6" name="">
            <a:extLst xmlns:a="http://schemas.openxmlformats.org/drawingml/2006/main">
              <a:ext uri="{FF2B5EF4-FFF2-40B4-BE49-F238E27FC236}">
                <a16:creationId xmlns:a16="http://schemas.microsoft.com/office/drawing/2014/main" id="{55E11ED3-DC22-4103-B5F5-B743F8133199}"/>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3DD13A7-2056-4CA7-B375-1AB5EC089CCE}"/>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Up to 3 prior deployments within two hours</a:t>
            </a:r>
          </a:p>
        </p:txBody>
      </p:sp>
      <p:sp>
        <p:nvSpPr>
          <p:cNvPr id="8" name="">
            <a:extLst xmlns:a="http://schemas.openxmlformats.org/drawingml/2006/main">
              <a:ext uri="{FF2B5EF4-FFF2-40B4-BE49-F238E27FC236}">
                <a16:creationId xmlns:a16="http://schemas.microsoft.com/office/drawing/2014/main" id="{C985F1B4-510F-46B5-BE50-FC196520AF8C}"/>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B3E1FC3-B9A3-4B13-B074-985085C030C8}"/>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Summary, probable cause, confidence, evidence, actions</a:t>
            </a:r>
          </a:p>
        </p:txBody>
      </p:sp>
      <p:sp>
        <p:nvSpPr>
          <p:cNvPr id="10" name="">
            <a:extLst xmlns:a="http://schemas.openxmlformats.org/drawingml/2006/main">
              <a:ext uri="{FF2B5EF4-FFF2-40B4-BE49-F238E27FC236}">
                <a16:creationId xmlns:a16="http://schemas.microsoft.com/office/drawing/2014/main" id="{3B325BCD-5C60-4A5F-A0DB-49050982FA25}"/>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A81DC1CF-44F4-4718-8E96-F2FD00EDB422}"/>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13</a:t>
            </a:r>
          </a:p>
        </p:txBody>
      </p:sp>
    </p:spTree>
    <p:extLst>
      <p:ext uri="{BB962C8B-B14F-4D97-AF65-F5344CB8AC3E}">
        <p14:creationId xmlns:p14="http://schemas.microsoft.com/office/powerpoint/2010/main" val="1384770930"/>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CB98C8A-887A-486F-8108-0B37701AE733}"/>
              </a:ext>
            </a:extLst>
          </p:cNvPr>
          <p:cNvCxnSpPr>
            <a:stCxn xmlns:a="http://schemas.openxmlformats.org/drawingml/2006/main" id="7" idx="3"/>
            <a:endCxn xmlns:a="http://schemas.openxmlformats.org/drawingml/2006/main" id="9" idx="1"/>
          </p:cNvCxnSpPr>
          <p:nvPr/>
        </p:nvCxnSpPr>
        <p:spPr>
          <a:xfrm xmlns:a="http://schemas.openxmlformats.org/drawingml/2006/main">
            <a:off x="8767763"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A99F696F-7B42-48A4-BC82-262814192727}"/>
              </a:ext>
            </a:extLst>
          </p:cNvPr>
          <p:cNvCxnSpPr>
            <a:stCxn xmlns:a="http://schemas.openxmlformats.org/drawingml/2006/main" id="5" idx="3"/>
            <a:endCxn xmlns:a="http://schemas.openxmlformats.org/drawingml/2006/main" id="7" idx="1"/>
          </p:cNvCxnSpPr>
          <p:nvPr/>
        </p:nvCxnSpPr>
        <p:spPr>
          <a:xfrm xmlns:a="http://schemas.openxmlformats.org/drawingml/2006/main">
            <a:off x="5953126" y="3009900"/>
            <a:ext cx="285749"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6" name="">
            <a:extLst xmlns:a="http://schemas.openxmlformats.org/drawingml/2006/main">
              <a:ext uri="{FF2B5EF4-FFF2-40B4-BE49-F238E27FC236}">
                <a16:creationId xmlns:a16="http://schemas.microsoft.com/office/drawing/2014/main" id="{B1C62276-475E-4236-A48B-9F1450E1BCF3}"/>
              </a:ext>
            </a:extLst>
          </p:cNvPr>
          <p:cNvCxnSpPr>
            <a:stCxn xmlns:a="http://schemas.openxmlformats.org/drawingml/2006/main" id="4" idx="3"/>
            <a:endCxn xmlns:a="http://schemas.openxmlformats.org/drawingml/2006/main" id="5" idx="1"/>
          </p:cNvCxnSpPr>
          <p:nvPr/>
        </p:nvCxnSpPr>
        <p:spPr>
          <a:xfrm xmlns:a="http://schemas.openxmlformats.org/drawingml/2006/main">
            <a:off x="3138488"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4" name="">
            <a:extLst xmlns:a="http://schemas.openxmlformats.org/drawingml/2006/main">
              <a:ext uri="{FF2B5EF4-FFF2-40B4-BE49-F238E27FC236}">
                <a16:creationId xmlns:a16="http://schemas.microsoft.com/office/drawing/2014/main" id="{B7D2A956-6BB5-4CD8-882B-742A2F671EDD}"/>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14</a:t>
            </a:r>
          </a:p>
        </p:txBody>
      </p:sp>
      <p:sp>
        <p:nvSpPr>
          <p:cNvPr id="2" name="">
            <a:extLst xmlns:a="http://schemas.openxmlformats.org/drawingml/2006/main">
              <a:ext uri="{FF2B5EF4-FFF2-40B4-BE49-F238E27FC236}">
                <a16:creationId xmlns:a16="http://schemas.microsoft.com/office/drawing/2014/main" id="{E35F4983-3CFE-4FF5-8597-4ECD5FFC7504}"/>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Optional AI and safe fallback</a:t>
            </a:r>
          </a:p>
        </p:txBody>
      </p:sp>
      <p:sp>
        <p:nvSpPr>
          <p:cNvPr id="3" name="">
            <a:extLst xmlns:a="http://schemas.openxmlformats.org/drawingml/2006/main">
              <a:ext uri="{FF2B5EF4-FFF2-40B4-BE49-F238E27FC236}">
                <a16:creationId xmlns:a16="http://schemas.microsoft.com/office/drawing/2014/main" id="{64472D71-D25D-4FAB-AA19-ED693538F957}"/>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The application stays usable without a provider key</a:t>
            </a:r>
          </a:p>
        </p:txBody>
      </p:sp>
      <p:sp>
        <p:nvSpPr>
          <p:cNvPr id="4" name="">
            <a:extLst xmlns:a="http://schemas.openxmlformats.org/drawingml/2006/main">
              <a:ext uri="{FF2B5EF4-FFF2-40B4-BE49-F238E27FC236}">
                <a16:creationId xmlns:a16="http://schemas.microsoft.com/office/drawing/2014/main" id="{F966642F-7169-4E86-B39D-7284E613C401}"/>
              </a:ext>
            </a:extLst>
          </p:cNvPr>
          <p:cNvSpPr>
            <a:spLocks xmlns:a="http://schemas.openxmlformats.org/drawingml/2006/main" noGrp="1"/>
          </p:cNvSpPr>
          <p:nvPr/>
        </p:nvSpPr>
        <p:spPr>
          <a:xfrm xmlns:a="http://schemas.openxmlformats.org/drawingml/2006/main">
            <a:off x="609600"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Incident evidence</a:t>
            </a:r>
          </a:p>
        </p:txBody>
      </p:sp>
      <p:sp>
        <p:nvSpPr>
          <p:cNvPr id="5" name="">
            <a:extLst xmlns:a="http://schemas.openxmlformats.org/drawingml/2006/main">
              <a:ext uri="{FF2B5EF4-FFF2-40B4-BE49-F238E27FC236}">
                <a16:creationId xmlns:a16="http://schemas.microsoft.com/office/drawing/2014/main" id="{21F00516-F74B-43A3-8212-F824417FAB64}"/>
              </a:ext>
            </a:extLst>
          </p:cNvPr>
          <p:cNvSpPr>
            <a:spLocks xmlns:a="http://schemas.openxmlformats.org/drawingml/2006/main" noGrp="1"/>
          </p:cNvSpPr>
          <p:nvPr/>
        </p:nvSpPr>
        <p:spPr>
          <a:xfrm xmlns:a="http://schemas.openxmlformats.org/drawingml/2006/main">
            <a:off x="3424238"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Local heuristic</a:t>
            </a:r>
          </a:p>
        </p:txBody>
      </p:sp>
      <p:sp>
        <p:nvSpPr>
          <p:cNvPr id="7" name="">
            <a:extLst xmlns:a="http://schemas.openxmlformats.org/drawingml/2006/main">
              <a:ext uri="{FF2B5EF4-FFF2-40B4-BE49-F238E27FC236}">
                <a16:creationId xmlns:a16="http://schemas.microsoft.com/office/drawing/2014/main" id="{7F307225-B6A0-44DE-BCD4-0CB97DC69943}"/>
              </a:ext>
            </a:extLst>
          </p:cNvPr>
          <p:cNvSpPr>
            <a:spLocks xmlns:a="http://schemas.openxmlformats.org/drawingml/2006/main" noGrp="1"/>
          </p:cNvSpPr>
          <p:nvPr/>
        </p:nvSpPr>
        <p:spPr>
          <a:xfrm xmlns:a="http://schemas.openxmlformats.org/drawingml/2006/main">
            <a:off x="6238875"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Optional provider</a:t>
            </a:r>
          </a:p>
        </p:txBody>
      </p:sp>
      <p:sp>
        <p:nvSpPr>
          <p:cNvPr id="9" name="">
            <a:extLst xmlns:a="http://schemas.openxmlformats.org/drawingml/2006/main">
              <a:ext uri="{FF2B5EF4-FFF2-40B4-BE49-F238E27FC236}">
                <a16:creationId xmlns:a16="http://schemas.microsoft.com/office/drawing/2014/main" id="{BA6DB5FF-693D-45CC-B4FD-28B364F652B5}"/>
              </a:ext>
            </a:extLst>
          </p:cNvPr>
          <p:cNvSpPr>
            <a:spLocks xmlns:a="http://schemas.openxmlformats.org/drawingml/2006/main" noGrp="1"/>
          </p:cNvSpPr>
          <p:nvPr/>
        </p:nvSpPr>
        <p:spPr>
          <a:xfrm xmlns:a="http://schemas.openxmlformats.org/drawingml/2006/main">
            <a:off x="9053513"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Labeled result</a:t>
            </a:r>
          </a:p>
        </p:txBody>
      </p:sp>
      <p:sp>
        <p:nvSpPr>
          <p:cNvPr id="11" name="">
            <a:extLst xmlns:a="http://schemas.openxmlformats.org/drawingml/2006/main">
              <a:ext uri="{FF2B5EF4-FFF2-40B4-BE49-F238E27FC236}">
                <a16:creationId xmlns:a16="http://schemas.microsoft.com/office/drawing/2014/main" id="{2F224692-A70A-4131-AE2E-D63474903CF7}"/>
              </a:ext>
            </a:extLst>
          </p:cNvPr>
          <p:cNvSpPr>
            <a:spLocks xmlns:a="http://schemas.openxmlformats.org/drawingml/2006/main" noGrp="1"/>
          </p:cNvSpPr>
          <p:nvPr/>
        </p:nvSpPr>
        <p:spPr>
          <a:xfrm xmlns:a="http://schemas.openxmlformats.org/drawingml/2006/main">
            <a:off x="609600" y="4000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22B3C"/>
                </a:solidFill>
                <a:latin typeface="Arial"/>
                <a:ea typeface="Arial"/>
                <a:cs typeface="Arial"/>
              </a:defRPr>
            </a:defPPr>
            <a:lvl1pPr>
              <a:defRPr sz="1875" b="0">
                <a:solidFill>
                  <a:srgbClr val="122B3C"/>
                </a:solidFill>
                <a:latin typeface="Arial"/>
                <a:ea typeface="Arial"/>
                <a:cs typeface="Arial"/>
              </a:defRPr>
            </a:lvl1pPr>
            <a:lvl2pPr>
              <a:defRPr sz="1875" b="0">
                <a:solidFill>
                  <a:srgbClr val="122B3C"/>
                </a:solidFill>
                <a:latin typeface="Arial"/>
                <a:ea typeface="Arial"/>
                <a:cs typeface="Arial"/>
              </a:defRPr>
            </a:lvl2pPr>
            <a:lvl3pPr>
              <a:defRPr sz="1875" b="0">
                <a:solidFill>
                  <a:srgbClr val="122B3C"/>
                </a:solidFill>
                <a:latin typeface="Arial"/>
                <a:ea typeface="Arial"/>
                <a:cs typeface="Arial"/>
              </a:defRPr>
            </a:lvl3pPr>
            <a:lvl4pPr>
              <a:defRPr sz="1875" b="0">
                <a:solidFill>
                  <a:srgbClr val="122B3C"/>
                </a:solidFill>
                <a:latin typeface="Arial"/>
                <a:ea typeface="Arial"/>
                <a:cs typeface="Arial"/>
              </a:defRPr>
            </a:lvl4pPr>
            <a:lvl5pPr>
              <a:defRPr sz="1875" b="0">
                <a:solidFill>
                  <a:srgbClr val="122B3C"/>
                </a:solidFill>
                <a:latin typeface="Arial"/>
                <a:ea typeface="Arial"/>
                <a:cs typeface="Arial"/>
              </a:defRPr>
            </a:lvl5pPr>
            <a:lvl6pPr>
              <a:defRPr sz="1875" b="0">
                <a:solidFill>
                  <a:srgbClr val="122B3C"/>
                </a:solidFill>
                <a:latin typeface="Arial"/>
                <a:ea typeface="Arial"/>
                <a:cs typeface="Arial"/>
              </a:defRPr>
            </a:lvl6pPr>
            <a:lvl7pPr>
              <a:defRPr sz="1875" b="0">
                <a:solidFill>
                  <a:srgbClr val="122B3C"/>
                </a:solidFill>
                <a:latin typeface="Arial"/>
                <a:ea typeface="Arial"/>
                <a:cs typeface="Arial"/>
              </a:defRPr>
            </a:lvl7pPr>
            <a:lvl8pPr>
              <a:defRPr sz="1875" b="0">
                <a:solidFill>
                  <a:srgbClr val="122B3C"/>
                </a:solidFill>
                <a:latin typeface="Arial"/>
                <a:ea typeface="Arial"/>
                <a:cs typeface="Arial"/>
              </a:defRPr>
            </a:lvl8pPr>
            <a:lvl9pPr>
              <a:defRPr sz="1875" b="0">
                <a:solidFill>
                  <a:srgbClr val="122B3C"/>
                </a:solidFill>
                <a:latin typeface="Arial"/>
                <a:ea typeface="Arial"/>
                <a:cs typeface="Arial"/>
              </a:defRPr>
            </a:lvl9pPr>
          </a:lstStyle>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No provider key: local heuristic analysis</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Provider configured: structured Responses API output</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Provider failure or unusable output: labeled heuristic result</a:t>
            </a:r>
          </a:p>
        </p:txBody>
      </p:sp>
      <p:sp>
        <p:nvSpPr>
          <p:cNvPr id="12" name="">
            <a:extLst xmlns:a="http://schemas.openxmlformats.org/drawingml/2006/main">
              <a:ext uri="{FF2B5EF4-FFF2-40B4-BE49-F238E27FC236}">
                <a16:creationId xmlns:a16="http://schemas.microsoft.com/office/drawing/2014/main" id="{23836044-C4D1-4F0B-AE8E-71162769CB17}"/>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3" name="">
            <a:extLst xmlns:a="http://schemas.openxmlformats.org/drawingml/2006/main">
              <a:ext uri="{FF2B5EF4-FFF2-40B4-BE49-F238E27FC236}">
                <a16:creationId xmlns:a16="http://schemas.microsoft.com/office/drawing/2014/main" id="{BA69AA83-43D6-4AF4-A65F-2372999A3E42}"/>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14</a:t>
            </a:r>
          </a:p>
        </p:txBody>
      </p:sp>
    </p:spTree>
    <p:extLst>
      <p:ext uri="{BB962C8B-B14F-4D97-AF65-F5344CB8AC3E}">
        <p14:creationId xmlns:p14="http://schemas.microsoft.com/office/powerpoint/2010/main" val="2094761224"/>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C0841B9-8442-4063-88DD-9D937EB9F0B9}"/>
              </a:ext>
            </a:extLst>
          </p:cNvPr>
          <p:cNvCxnSpPr>
            <a:stCxn xmlns:a="http://schemas.openxmlformats.org/drawingml/2006/main" id="7" idx="3"/>
            <a:endCxn xmlns:a="http://schemas.openxmlformats.org/drawingml/2006/main" id="9" idx="1"/>
          </p:cNvCxnSpPr>
          <p:nvPr/>
        </p:nvCxnSpPr>
        <p:spPr>
          <a:xfrm xmlns:a="http://schemas.openxmlformats.org/drawingml/2006/main">
            <a:off x="8767763"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8" name="">
            <a:extLst xmlns:a="http://schemas.openxmlformats.org/drawingml/2006/main">
              <a:ext uri="{FF2B5EF4-FFF2-40B4-BE49-F238E27FC236}">
                <a16:creationId xmlns:a16="http://schemas.microsoft.com/office/drawing/2014/main" id="{56EABBF6-1300-4991-A188-577D10496482}"/>
              </a:ext>
            </a:extLst>
          </p:cNvPr>
          <p:cNvCxnSpPr>
            <a:stCxn xmlns:a="http://schemas.openxmlformats.org/drawingml/2006/main" id="5" idx="3"/>
            <a:endCxn xmlns:a="http://schemas.openxmlformats.org/drawingml/2006/main" id="7" idx="1"/>
          </p:cNvCxnSpPr>
          <p:nvPr/>
        </p:nvCxnSpPr>
        <p:spPr>
          <a:xfrm xmlns:a="http://schemas.openxmlformats.org/drawingml/2006/main">
            <a:off x="5953126" y="3009900"/>
            <a:ext cx="285749" cy="0"/>
          </a:xfrm>
          <a:prstGeom xmlns:a="http://schemas.openxmlformats.org/drawingml/2006/main" prst="straightConnector1">
            <a:avLst/>
          </a:prstGeom>
          <a:ln xmlns:a="http://schemas.openxmlformats.org/drawingml/2006/main" w="19050">
            <a:solidFill>
              <a:srgbClr val="087F80"/>
            </a:solidFill>
            <a:tailEnd type="arrow" w="med" len="med"/>
          </a:ln>
        </p:spPr>
      </p:cxnSp>
      <p:cxnSp>
        <p:nvCxnSpPr>
          <p:cNvPr id="6" name="">
            <a:extLst xmlns:a="http://schemas.openxmlformats.org/drawingml/2006/main">
              <a:ext uri="{FF2B5EF4-FFF2-40B4-BE49-F238E27FC236}">
                <a16:creationId xmlns:a16="http://schemas.microsoft.com/office/drawing/2014/main" id="{4491876B-5C9D-4CCB-A8AB-2DBEBEE77FB9}"/>
              </a:ext>
            </a:extLst>
          </p:cNvPr>
          <p:cNvCxnSpPr>
            <a:stCxn xmlns:a="http://schemas.openxmlformats.org/drawingml/2006/main" id="4" idx="3"/>
            <a:endCxn xmlns:a="http://schemas.openxmlformats.org/drawingml/2006/main" id="5" idx="1"/>
          </p:cNvCxnSpPr>
          <p:nvPr/>
        </p:nvCxnSpPr>
        <p:spPr>
          <a:xfrm xmlns:a="http://schemas.openxmlformats.org/drawingml/2006/main">
            <a:off x="3138488" y="3009900"/>
            <a:ext cx="285750" cy="0"/>
          </a:xfrm>
          <a:prstGeom xmlns:a="http://schemas.openxmlformats.org/drawingml/2006/main" prst="straightConnector1">
            <a:avLst/>
          </a:prstGeom>
          <a:ln xmlns:a="http://schemas.openxmlformats.org/drawingml/2006/main" w="19050">
            <a:solidFill>
              <a:srgbClr val="087F80"/>
            </a:solidFill>
            <a:tailEnd type="arrow" w="med" len="med"/>
          </a:ln>
        </p:spPr>
      </p:cxnSp>
      <p:sp>
        <p:nvSpPr>
          <p:cNvPr id="14" name="">
            <a:extLst xmlns:a="http://schemas.openxmlformats.org/drawingml/2006/main">
              <a:ext uri="{FF2B5EF4-FFF2-40B4-BE49-F238E27FC236}">
                <a16:creationId xmlns:a16="http://schemas.microsoft.com/office/drawing/2014/main" id="{B13778B8-B8F0-4C8D-8036-4F133F57D1B9}"/>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15</a:t>
            </a:r>
          </a:p>
        </p:txBody>
      </p:sp>
      <p:sp>
        <p:nvSpPr>
          <p:cNvPr id="2" name="">
            <a:extLst xmlns:a="http://schemas.openxmlformats.org/drawingml/2006/main">
              <a:ext uri="{FF2B5EF4-FFF2-40B4-BE49-F238E27FC236}">
                <a16:creationId xmlns:a16="http://schemas.microsoft.com/office/drawing/2014/main" id="{B60A9FEB-2629-449F-87C0-C4D38C1A3086}"/>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Persistent data model</a:t>
            </a:r>
          </a:p>
        </p:txBody>
      </p:sp>
      <p:sp>
        <p:nvSpPr>
          <p:cNvPr id="3" name="">
            <a:extLst xmlns:a="http://schemas.openxmlformats.org/drawingml/2006/main">
              <a:ext uri="{FF2B5EF4-FFF2-40B4-BE49-F238E27FC236}">
                <a16:creationId xmlns:a16="http://schemas.microsoft.com/office/drawing/2014/main" id="{CA444CC7-89CC-42EF-ADD5-84E26DFAB002}"/>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Telemetry, investigation state, and work coordination</a:t>
            </a:r>
          </a:p>
        </p:txBody>
      </p:sp>
      <p:sp>
        <p:nvSpPr>
          <p:cNvPr id="4" name="">
            <a:extLst xmlns:a="http://schemas.openxmlformats.org/drawingml/2006/main">
              <a:ext uri="{FF2B5EF4-FFF2-40B4-BE49-F238E27FC236}">
                <a16:creationId xmlns:a16="http://schemas.microsoft.com/office/drawing/2014/main" id="{6C358415-A2DD-4A13-A841-2FB3EDC22226}"/>
              </a:ext>
            </a:extLst>
          </p:cNvPr>
          <p:cNvSpPr>
            <a:spLocks xmlns:a="http://schemas.openxmlformats.org/drawingml/2006/main" noGrp="1"/>
          </p:cNvSpPr>
          <p:nvPr/>
        </p:nvSpPr>
        <p:spPr>
          <a:xfrm xmlns:a="http://schemas.openxmlformats.org/drawingml/2006/main">
            <a:off x="609600"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Telemetry</a:t>
            </a:r>
          </a:p>
        </p:txBody>
      </p:sp>
      <p:sp>
        <p:nvSpPr>
          <p:cNvPr id="5" name="">
            <a:extLst xmlns:a="http://schemas.openxmlformats.org/drawingml/2006/main">
              <a:ext uri="{FF2B5EF4-FFF2-40B4-BE49-F238E27FC236}">
                <a16:creationId xmlns:a16="http://schemas.microsoft.com/office/drawing/2014/main" id="{24179692-1BA3-49D6-8EE0-36E694354503}"/>
              </a:ext>
            </a:extLst>
          </p:cNvPr>
          <p:cNvSpPr>
            <a:spLocks xmlns:a="http://schemas.openxmlformats.org/drawingml/2006/main" noGrp="1"/>
          </p:cNvSpPr>
          <p:nvPr/>
        </p:nvSpPr>
        <p:spPr>
          <a:xfrm xmlns:a="http://schemas.openxmlformats.org/drawingml/2006/main">
            <a:off x="3424238"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Service + time</a:t>
            </a:r>
          </a:p>
        </p:txBody>
      </p:sp>
      <p:sp>
        <p:nvSpPr>
          <p:cNvPr id="7" name="">
            <a:extLst xmlns:a="http://schemas.openxmlformats.org/drawingml/2006/main">
              <a:ext uri="{FF2B5EF4-FFF2-40B4-BE49-F238E27FC236}">
                <a16:creationId xmlns:a16="http://schemas.microsoft.com/office/drawing/2014/main" id="{AF772435-F528-4083-8589-6AE010D40443}"/>
              </a:ext>
            </a:extLst>
          </p:cNvPr>
          <p:cNvSpPr>
            <a:spLocks xmlns:a="http://schemas.openxmlformats.org/drawingml/2006/main" noGrp="1"/>
          </p:cNvSpPr>
          <p:nvPr/>
        </p:nvSpPr>
        <p:spPr>
          <a:xfrm xmlns:a="http://schemas.openxmlformats.org/drawingml/2006/main">
            <a:off x="6238875"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Incidents / timeline</a:t>
            </a:r>
          </a:p>
        </p:txBody>
      </p:sp>
      <p:sp>
        <p:nvSpPr>
          <p:cNvPr id="9" name="">
            <a:extLst xmlns:a="http://schemas.openxmlformats.org/drawingml/2006/main">
              <a:ext uri="{FF2B5EF4-FFF2-40B4-BE49-F238E27FC236}">
                <a16:creationId xmlns:a16="http://schemas.microsoft.com/office/drawing/2014/main" id="{758454E9-78D8-402E-92BF-809E85301B85}"/>
              </a:ext>
            </a:extLst>
          </p:cNvPr>
          <p:cNvSpPr>
            <a:spLocks xmlns:a="http://schemas.openxmlformats.org/drawingml/2006/main" noGrp="1"/>
          </p:cNvSpPr>
          <p:nvPr/>
        </p:nvSpPr>
        <p:spPr>
          <a:xfrm xmlns:a="http://schemas.openxmlformats.org/drawingml/2006/main">
            <a:off x="9053513" y="2476500"/>
            <a:ext cx="2528888" cy="1066800"/>
          </a:xfrm>
          <a:prstGeom xmlns:a="http://schemas.openxmlformats.org/drawingml/2006/main" prst="rect">
            <a:avLst/>
          </a:prstGeom>
          <a:solidFill xmlns:a="http://schemas.openxmlformats.org/drawingml/2006/main">
            <a:srgbClr val="E2F0EF"/>
          </a:solidFill>
          <a:ln xmlns:a="http://schemas.openxmlformats.org/drawingml/2006/main" w="0">
            <a:noFill/>
          </a:ln>
        </p:spPr>
        <p:txBody>
          <a:bodyPr xmlns:a="http://schemas.openxmlformats.org/drawingml/2006/main" wrap="square" lIns="133350" tIns="133350" rIns="133350" bIns="133350" anchor="ctr">
            <a:noAutofit/>
          </a:bodyPr>
          <a:lstStyle xmlns:a="http://schemas.openxmlformats.org/drawingml/2006/main">
            <a:defPPr>
              <a:defRPr sz="1800" b="1">
                <a:solidFill>
                  <a:srgbClr val="122B3C"/>
                </a:solidFill>
                <a:latin typeface="Arial"/>
                <a:ea typeface="Arial"/>
                <a:cs typeface="Arial"/>
              </a:defRPr>
            </a:defPPr>
            <a:lvl1pPr>
              <a:defRPr sz="1800" b="1">
                <a:solidFill>
                  <a:srgbClr val="122B3C"/>
                </a:solidFill>
                <a:latin typeface="Arial"/>
                <a:ea typeface="Arial"/>
                <a:cs typeface="Arial"/>
              </a:defRPr>
            </a:lvl1pPr>
            <a:lvl2pPr>
              <a:defRPr sz="1800" b="1">
                <a:solidFill>
                  <a:srgbClr val="122B3C"/>
                </a:solidFill>
                <a:latin typeface="Arial"/>
                <a:ea typeface="Arial"/>
                <a:cs typeface="Arial"/>
              </a:defRPr>
            </a:lvl2pPr>
            <a:lvl3pPr>
              <a:defRPr sz="1800" b="1">
                <a:solidFill>
                  <a:srgbClr val="122B3C"/>
                </a:solidFill>
                <a:latin typeface="Arial"/>
                <a:ea typeface="Arial"/>
                <a:cs typeface="Arial"/>
              </a:defRPr>
            </a:lvl3pPr>
            <a:lvl4pPr>
              <a:defRPr sz="1800" b="1">
                <a:solidFill>
                  <a:srgbClr val="122B3C"/>
                </a:solidFill>
                <a:latin typeface="Arial"/>
                <a:ea typeface="Arial"/>
                <a:cs typeface="Arial"/>
              </a:defRPr>
            </a:lvl4pPr>
            <a:lvl5pPr>
              <a:defRPr sz="1800" b="1">
                <a:solidFill>
                  <a:srgbClr val="122B3C"/>
                </a:solidFill>
                <a:latin typeface="Arial"/>
                <a:ea typeface="Arial"/>
                <a:cs typeface="Arial"/>
              </a:defRPr>
            </a:lvl5pPr>
            <a:lvl6pPr>
              <a:defRPr sz="1800" b="1">
                <a:solidFill>
                  <a:srgbClr val="122B3C"/>
                </a:solidFill>
                <a:latin typeface="Arial"/>
                <a:ea typeface="Arial"/>
                <a:cs typeface="Arial"/>
              </a:defRPr>
            </a:lvl6pPr>
            <a:lvl7pPr>
              <a:defRPr sz="1800" b="1">
                <a:solidFill>
                  <a:srgbClr val="122B3C"/>
                </a:solidFill>
                <a:latin typeface="Arial"/>
                <a:ea typeface="Arial"/>
                <a:cs typeface="Arial"/>
              </a:defRPr>
            </a:lvl7pPr>
            <a:lvl8pPr>
              <a:defRPr sz="1800" b="1">
                <a:solidFill>
                  <a:srgbClr val="122B3C"/>
                </a:solidFill>
                <a:latin typeface="Arial"/>
                <a:ea typeface="Arial"/>
                <a:cs typeface="Arial"/>
              </a:defRPr>
            </a:lvl8pPr>
            <a:lvl9pPr>
              <a:defRPr sz="1800" b="1">
                <a:solidFill>
                  <a:srgbClr val="122B3C"/>
                </a:solidFill>
                <a:latin typeface="Arial"/>
                <a:ea typeface="Arial"/>
                <a:cs typeface="Arial"/>
              </a:defRPr>
            </a:lvl9pPr>
          </a:lstStyle>
          <a:p xmlns:a="http://schemas.openxmlformats.org/drawingml/2006/main">
            <a:pPr>
              <a:defRPr sz="1800" b="1">
                <a:solidFill>
                  <a:srgbClr val="122B3C"/>
                </a:solidFill>
                <a:latin typeface="Arial"/>
                <a:ea typeface="Arial"/>
                <a:cs typeface="Arial"/>
              </a:defRPr>
            </a:pPr>
            <a:r>
              <a:rPr sz="1800" b="1">
                <a:solidFill>
                  <a:srgbClr val="122B3C"/>
                </a:solidFill>
                <a:latin typeface="Arial"/>
                <a:ea typeface="Arial"/>
                <a:cs typeface="Arial"/>
              </a:rPr>
              <a:t>Outbox / rule state</a:t>
            </a:r>
          </a:p>
        </p:txBody>
      </p:sp>
      <p:sp>
        <p:nvSpPr>
          <p:cNvPr id="11" name="">
            <a:extLst xmlns:a="http://schemas.openxmlformats.org/drawingml/2006/main">
              <a:ext uri="{FF2B5EF4-FFF2-40B4-BE49-F238E27FC236}">
                <a16:creationId xmlns:a16="http://schemas.microsoft.com/office/drawing/2014/main" id="{91CC04D8-D644-4A85-B447-D9BDE0D1C1B5}"/>
              </a:ext>
            </a:extLst>
          </p:cNvPr>
          <p:cNvSpPr>
            <a:spLocks xmlns:a="http://schemas.openxmlformats.org/drawingml/2006/main" noGrp="1"/>
          </p:cNvSpPr>
          <p:nvPr/>
        </p:nvSpPr>
        <p:spPr>
          <a:xfrm xmlns:a="http://schemas.openxmlformats.org/drawingml/2006/main">
            <a:off x="609600" y="4000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22B3C"/>
                </a:solidFill>
                <a:latin typeface="Arial"/>
                <a:ea typeface="Arial"/>
                <a:cs typeface="Arial"/>
              </a:defRPr>
            </a:defPPr>
            <a:lvl1pPr>
              <a:defRPr sz="1875" b="0">
                <a:solidFill>
                  <a:srgbClr val="122B3C"/>
                </a:solidFill>
                <a:latin typeface="Arial"/>
                <a:ea typeface="Arial"/>
                <a:cs typeface="Arial"/>
              </a:defRPr>
            </a:lvl1pPr>
            <a:lvl2pPr>
              <a:defRPr sz="1875" b="0">
                <a:solidFill>
                  <a:srgbClr val="122B3C"/>
                </a:solidFill>
                <a:latin typeface="Arial"/>
                <a:ea typeface="Arial"/>
                <a:cs typeface="Arial"/>
              </a:defRPr>
            </a:lvl2pPr>
            <a:lvl3pPr>
              <a:defRPr sz="1875" b="0">
                <a:solidFill>
                  <a:srgbClr val="122B3C"/>
                </a:solidFill>
                <a:latin typeface="Arial"/>
                <a:ea typeface="Arial"/>
                <a:cs typeface="Arial"/>
              </a:defRPr>
            </a:lvl3pPr>
            <a:lvl4pPr>
              <a:defRPr sz="1875" b="0">
                <a:solidFill>
                  <a:srgbClr val="122B3C"/>
                </a:solidFill>
                <a:latin typeface="Arial"/>
                <a:ea typeface="Arial"/>
                <a:cs typeface="Arial"/>
              </a:defRPr>
            </a:lvl4pPr>
            <a:lvl5pPr>
              <a:defRPr sz="1875" b="0">
                <a:solidFill>
                  <a:srgbClr val="122B3C"/>
                </a:solidFill>
                <a:latin typeface="Arial"/>
                <a:ea typeface="Arial"/>
                <a:cs typeface="Arial"/>
              </a:defRPr>
            </a:lvl5pPr>
            <a:lvl6pPr>
              <a:defRPr sz="1875" b="0">
                <a:solidFill>
                  <a:srgbClr val="122B3C"/>
                </a:solidFill>
                <a:latin typeface="Arial"/>
                <a:ea typeface="Arial"/>
                <a:cs typeface="Arial"/>
              </a:defRPr>
            </a:lvl6pPr>
            <a:lvl7pPr>
              <a:defRPr sz="1875" b="0">
                <a:solidFill>
                  <a:srgbClr val="122B3C"/>
                </a:solidFill>
                <a:latin typeface="Arial"/>
                <a:ea typeface="Arial"/>
                <a:cs typeface="Arial"/>
              </a:defRPr>
            </a:lvl7pPr>
            <a:lvl8pPr>
              <a:defRPr sz="1875" b="0">
                <a:solidFill>
                  <a:srgbClr val="122B3C"/>
                </a:solidFill>
                <a:latin typeface="Arial"/>
                <a:ea typeface="Arial"/>
                <a:cs typeface="Arial"/>
              </a:defRPr>
            </a:lvl8pPr>
            <a:lvl9pPr>
              <a:defRPr sz="1875" b="0">
                <a:solidFill>
                  <a:srgbClr val="122B3C"/>
                </a:solidFill>
                <a:latin typeface="Arial"/>
                <a:ea typeface="Arial"/>
                <a:cs typeface="Arial"/>
              </a:defRPr>
            </a:lvl9pPr>
          </a:lstStyle>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Telemetry: monitors, monitor_checks, logs, deployments</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Investigation: incidents, incident_timeline, audit</a:t>
            </a:r>
          </a:p>
          <a:p xmlns:a="http://schemas.openxmlformats.org/drawingml/2006/main">
            <a:r>
              <a:t/>
            </a:r>
          </a:p>
          <a:p xmlns:a="http://schemas.openxmlformats.org/drawingml/2006/main">
            <a:pPr>
              <a:defRPr sz="1875" b="0">
                <a:solidFill>
                  <a:srgbClr val="122B3C"/>
                </a:solidFill>
                <a:latin typeface="Arial"/>
                <a:ea typeface="Arial"/>
                <a:cs typeface="Arial"/>
              </a:defRPr>
            </a:pPr>
            <a:r>
              <a:rPr sz="1875" b="0">
                <a:solidFill>
                  <a:srgbClr val="122B3C"/>
                </a:solidFill>
                <a:latin typeface="Arial"/>
                <a:ea typeface="Arial"/>
                <a:cs typeface="Arial"/>
              </a:rPr>
              <a:t>Coordination: events and rule_states</a:t>
            </a:r>
          </a:p>
        </p:txBody>
      </p:sp>
      <p:sp>
        <p:nvSpPr>
          <p:cNvPr id="12" name="">
            <a:extLst xmlns:a="http://schemas.openxmlformats.org/drawingml/2006/main">
              <a:ext uri="{FF2B5EF4-FFF2-40B4-BE49-F238E27FC236}">
                <a16:creationId xmlns:a16="http://schemas.microsoft.com/office/drawing/2014/main" id="{F84CA44A-C836-466E-AE4E-9D7A96CFE7A3}"/>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3" name="">
            <a:extLst xmlns:a="http://schemas.openxmlformats.org/drawingml/2006/main">
              <a:ext uri="{FF2B5EF4-FFF2-40B4-BE49-F238E27FC236}">
                <a16:creationId xmlns:a16="http://schemas.microsoft.com/office/drawing/2014/main" id="{87EF779D-054A-441D-B780-761C41411FCF}"/>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15</a:t>
            </a:r>
          </a:p>
        </p:txBody>
      </p:sp>
    </p:spTree>
    <p:extLst>
      <p:ext uri="{BB962C8B-B14F-4D97-AF65-F5344CB8AC3E}">
        <p14:creationId xmlns:p14="http://schemas.microsoft.com/office/powerpoint/2010/main" val="955319340"/>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801022-85A3-4254-A9C5-B79EB362807F}"/>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16</a:t>
            </a:r>
          </a:p>
        </p:txBody>
      </p:sp>
      <p:sp>
        <p:nvSpPr>
          <p:cNvPr id="2" name="">
            <a:extLst xmlns:a="http://schemas.openxmlformats.org/drawingml/2006/main">
              <a:ext uri="{FF2B5EF4-FFF2-40B4-BE49-F238E27FC236}">
                <a16:creationId xmlns:a16="http://schemas.microsoft.com/office/drawing/2014/main" id="{498232AF-0A8F-4A75-8C22-3AE3D2A008D6}"/>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Durability and delivery</a:t>
            </a:r>
          </a:p>
        </p:txBody>
      </p:sp>
      <p:sp>
        <p:nvSpPr>
          <p:cNvPr id="3" name="">
            <a:extLst xmlns:a="http://schemas.openxmlformats.org/drawingml/2006/main">
              <a:ext uri="{FF2B5EF4-FFF2-40B4-BE49-F238E27FC236}">
                <a16:creationId xmlns:a16="http://schemas.microsoft.com/office/drawing/2014/main" id="{580B48C3-112E-47C0-87F2-FF8577631503}"/>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 recoverable SQL outbox with optional Redis transport</a:t>
            </a:r>
          </a:p>
        </p:txBody>
      </p:sp>
      <p:sp>
        <p:nvSpPr>
          <p:cNvPr id="4" name="">
            <a:extLst xmlns:a="http://schemas.openxmlformats.org/drawingml/2006/main">
              <a:ext uri="{FF2B5EF4-FFF2-40B4-BE49-F238E27FC236}">
                <a16:creationId xmlns:a16="http://schemas.microsoft.com/office/drawing/2014/main" id="{05EAF50B-DDF4-4174-866B-78032FA73607}"/>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8A954AB-43BA-437C-92A6-7880D18E5EF2}"/>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Conditional claim with a two-minute lease</a:t>
            </a:r>
          </a:p>
        </p:txBody>
      </p:sp>
      <p:sp>
        <p:nvSpPr>
          <p:cNvPr id="6" name="">
            <a:extLst xmlns:a="http://schemas.openxmlformats.org/drawingml/2006/main">
              <a:ext uri="{FF2B5EF4-FFF2-40B4-BE49-F238E27FC236}">
                <a16:creationId xmlns:a16="http://schemas.microsoft.com/office/drawing/2014/main" id="{664946A9-F847-4278-9CFF-4184D39ADCDE}"/>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357C10F-73AE-43BE-913F-6EB0E17772EB}"/>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Up to 50 events and 20 due monitors per tick</a:t>
            </a:r>
          </a:p>
        </p:txBody>
      </p:sp>
      <p:sp>
        <p:nvSpPr>
          <p:cNvPr id="8" name="">
            <a:extLst xmlns:a="http://schemas.openxmlformats.org/drawingml/2006/main">
              <a:ext uri="{FF2B5EF4-FFF2-40B4-BE49-F238E27FC236}">
                <a16:creationId xmlns:a16="http://schemas.microsoft.com/office/drawing/2014/main" id="{A5B18FDE-59DD-476E-B03E-F7923963FBE1}"/>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F59FCA7C-D907-4442-BD92-A37792C14638}"/>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Five attempts, exponential retries, then event.failed</a:t>
            </a:r>
          </a:p>
        </p:txBody>
      </p:sp>
      <p:sp>
        <p:nvSpPr>
          <p:cNvPr id="10" name="">
            <a:extLst xmlns:a="http://schemas.openxmlformats.org/drawingml/2006/main">
              <a:ext uri="{FF2B5EF4-FFF2-40B4-BE49-F238E27FC236}">
                <a16:creationId xmlns:a16="http://schemas.microsoft.com/office/drawing/2014/main" id="{244685BC-643F-494F-A7CE-955845BC18FB}"/>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32D6AA09-3278-4D59-93D0-2D7D5DF56606}"/>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16</a:t>
            </a:r>
          </a:p>
        </p:txBody>
      </p:sp>
    </p:spTree>
    <p:extLst>
      <p:ext uri="{BB962C8B-B14F-4D97-AF65-F5344CB8AC3E}">
        <p14:creationId xmlns:p14="http://schemas.microsoft.com/office/powerpoint/2010/main" val="1828556166"/>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162252-81C2-4AD2-89A4-DDE1DC80491E}"/>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17</a:t>
            </a:r>
          </a:p>
        </p:txBody>
      </p:sp>
      <p:sp>
        <p:nvSpPr>
          <p:cNvPr id="2" name="">
            <a:extLst xmlns:a="http://schemas.openxmlformats.org/drawingml/2006/main">
              <a:ext uri="{FF2B5EF4-FFF2-40B4-BE49-F238E27FC236}">
                <a16:creationId xmlns:a16="http://schemas.microsoft.com/office/drawing/2014/main" id="{B6111682-9C44-417B-9F2B-EE5452FC5218}"/>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Dashboard and metrics</a:t>
            </a:r>
          </a:p>
        </p:txBody>
      </p:sp>
      <p:sp>
        <p:nvSpPr>
          <p:cNvPr id="3" name="">
            <a:extLst xmlns:a="http://schemas.openxmlformats.org/drawingml/2006/main">
              <a:ext uri="{FF2B5EF4-FFF2-40B4-BE49-F238E27FC236}">
                <a16:creationId xmlns:a16="http://schemas.microsoft.com/office/drawing/2014/main" id="{7ECD6D9F-6A3C-4179-85FC-F0494CCD3711}"/>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Read each number according to what it actually measures</a:t>
            </a:r>
          </a:p>
        </p:txBody>
      </p:sp>
      <p:sp>
        <p:nvSpPr>
          <p:cNvPr id="4" name="">
            <a:extLst xmlns:a="http://schemas.openxmlformats.org/drawingml/2006/main">
              <a:ext uri="{FF2B5EF4-FFF2-40B4-BE49-F238E27FC236}">
                <a16:creationId xmlns:a16="http://schemas.microsoft.com/office/drawing/2014/main" id="{74A4218D-CC89-4D06-B632-1ED584F8202B}"/>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10033D6-D74F-4B33-81CF-DE64FEFFEE65}"/>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Overview counts ingested logs, not independent HTTP traffic</a:t>
            </a:r>
          </a:p>
        </p:txBody>
      </p:sp>
      <p:sp>
        <p:nvSpPr>
          <p:cNvPr id="6" name="">
            <a:extLst xmlns:a="http://schemas.openxmlformats.org/drawingml/2006/main">
              <a:ext uri="{FF2B5EF4-FFF2-40B4-BE49-F238E27FC236}">
                <a16:creationId xmlns:a16="http://schemas.microsoft.com/office/drawing/2014/main" id="{86E19E5C-660A-4A34-8735-DEA6B0692ED3}"/>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5708066-BD99-41B8-9BA8-0812736266B2}"/>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Uptime counts checks matching the expected status</a:t>
            </a:r>
          </a:p>
        </p:txBody>
      </p:sp>
      <p:sp>
        <p:nvSpPr>
          <p:cNvPr id="8" name="">
            <a:extLst xmlns:a="http://schemas.openxmlformats.org/drawingml/2006/main">
              <a:ext uri="{FF2B5EF4-FFF2-40B4-BE49-F238E27FC236}">
                <a16:creationId xmlns:a16="http://schemas.microsoft.com/office/drawing/2014/main" id="{9E3F23F3-415C-4457-8762-9772265C4909}"/>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0B3D567-5DC7-4ADE-94EC-6C257A1D6EBD}"/>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Charts and percentiles may use a bounded sample</a:t>
            </a:r>
          </a:p>
        </p:txBody>
      </p:sp>
      <p:sp>
        <p:nvSpPr>
          <p:cNvPr id="10" name="">
            <a:extLst xmlns:a="http://schemas.openxmlformats.org/drawingml/2006/main">
              <a:ext uri="{FF2B5EF4-FFF2-40B4-BE49-F238E27FC236}">
                <a16:creationId xmlns:a16="http://schemas.microsoft.com/office/drawing/2014/main" id="{1DDD18B2-81E2-465F-ADCD-5A6EBB4A5B36}"/>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C9ECD1A3-D962-47A3-A140-E27446601337}"/>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17</a:t>
            </a:r>
          </a:p>
        </p:txBody>
      </p:sp>
    </p:spTree>
    <p:extLst>
      <p:ext uri="{BB962C8B-B14F-4D97-AF65-F5344CB8AC3E}">
        <p14:creationId xmlns:p14="http://schemas.microsoft.com/office/powerpoint/2010/main" val="1021953734"/>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BC75E9-6FDE-4BB6-8BFE-C16EA39FF4C4}"/>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18</a:t>
            </a:r>
          </a:p>
        </p:txBody>
      </p:sp>
      <p:sp>
        <p:nvSpPr>
          <p:cNvPr id="2" name="">
            <a:extLst xmlns:a="http://schemas.openxmlformats.org/drawingml/2006/main">
              <a:ext uri="{FF2B5EF4-FFF2-40B4-BE49-F238E27FC236}">
                <a16:creationId xmlns:a16="http://schemas.microsoft.com/office/drawing/2014/main" id="{88DBB257-232C-45FC-A026-5D03FC7D3582}"/>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Local setup and Compose</a:t>
            </a:r>
          </a:p>
        </p:txBody>
      </p:sp>
      <p:sp>
        <p:nvSpPr>
          <p:cNvPr id="3" name="">
            <a:extLst xmlns:a="http://schemas.openxmlformats.org/drawingml/2006/main">
              <a:ext uri="{FF2B5EF4-FFF2-40B4-BE49-F238E27FC236}">
                <a16:creationId xmlns:a16="http://schemas.microsoft.com/office/drawing/2014/main" id="{110D7890-6E10-49CC-B390-AAD61791DFB2}"/>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Two supported paths share the same application model</a:t>
            </a:r>
          </a:p>
        </p:txBody>
      </p:sp>
      <p:sp>
        <p:nvSpPr>
          <p:cNvPr id="4" name="">
            <a:extLst xmlns:a="http://schemas.openxmlformats.org/drawingml/2006/main">
              <a:ext uri="{FF2B5EF4-FFF2-40B4-BE49-F238E27FC236}">
                <a16:creationId xmlns:a16="http://schemas.microsoft.com/office/drawing/2014/main" id="{2C2FD552-6B56-465C-9892-BF142CD6EE3E}"/>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3C43A96-2AED-462E-9DB4-C16A861B1E90}"/>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Compose: web, API, worker, PostgreSQL, Redis</a:t>
            </a:r>
          </a:p>
        </p:txBody>
      </p:sp>
      <p:sp>
        <p:nvSpPr>
          <p:cNvPr id="6" name="">
            <a:extLst xmlns:a="http://schemas.openxmlformats.org/drawingml/2006/main">
              <a:ext uri="{FF2B5EF4-FFF2-40B4-BE49-F238E27FC236}">
                <a16:creationId xmlns:a16="http://schemas.microsoft.com/office/drawing/2014/main" id="{E5CA6B59-71D8-49AC-A038-4CBEEF490FBB}"/>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FA48673-8DD2-46D8-B2D4-6F1788DC1E48}"/>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Local: Python API/worker, SQLite, Next.js frontend</a:t>
            </a:r>
          </a:p>
        </p:txBody>
      </p:sp>
      <p:sp>
        <p:nvSpPr>
          <p:cNvPr id="8" name="">
            <a:extLst xmlns:a="http://schemas.openxmlformats.org/drawingml/2006/main">
              <a:ext uri="{FF2B5EF4-FFF2-40B4-BE49-F238E27FC236}">
                <a16:creationId xmlns:a16="http://schemas.microsoft.com/office/drawing/2014/main" id="{6A526EC5-922B-4AE1-AFB3-4AE47FD993C2}"/>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C8B7257-C460-46A9-8B4C-4466444BC6BB}"/>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Apply migrations before starting a new database</a:t>
            </a:r>
          </a:p>
        </p:txBody>
      </p:sp>
      <p:sp>
        <p:nvSpPr>
          <p:cNvPr id="10" name="">
            <a:extLst xmlns:a="http://schemas.openxmlformats.org/drawingml/2006/main">
              <a:ext uri="{FF2B5EF4-FFF2-40B4-BE49-F238E27FC236}">
                <a16:creationId xmlns:a16="http://schemas.microsoft.com/office/drawing/2014/main" id="{C6583453-A62D-4044-8713-899A788E428A}"/>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742CDD51-84C8-4B93-A374-2695A9396CB4}"/>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18</a:t>
            </a:r>
          </a:p>
        </p:txBody>
      </p:sp>
    </p:spTree>
    <p:extLst>
      <p:ext uri="{BB962C8B-B14F-4D97-AF65-F5344CB8AC3E}">
        <p14:creationId xmlns:p14="http://schemas.microsoft.com/office/powerpoint/2010/main" val="1264165686"/>
      </p:ext>
    </p:extLst>
  </p:cSld>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7C2699-9296-4163-A493-FB9E304898D2}"/>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19</a:t>
            </a:r>
          </a:p>
        </p:txBody>
      </p:sp>
      <p:sp>
        <p:nvSpPr>
          <p:cNvPr id="2" name="">
            <a:extLst xmlns:a="http://schemas.openxmlformats.org/drawingml/2006/main">
              <a:ext uri="{FF2B5EF4-FFF2-40B4-BE49-F238E27FC236}">
                <a16:creationId xmlns:a16="http://schemas.microsoft.com/office/drawing/2014/main" id="{6F054D5E-6579-46D4-B6F8-DCED711F7EDA}"/>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API integration</a:t>
            </a:r>
          </a:p>
        </p:txBody>
      </p:sp>
      <p:sp>
        <p:nvSpPr>
          <p:cNvPr id="3" name="">
            <a:extLst xmlns:a="http://schemas.openxmlformats.org/drawingml/2006/main">
              <a:ext uri="{FF2B5EF4-FFF2-40B4-BE49-F238E27FC236}">
                <a16:creationId xmlns:a16="http://schemas.microsoft.com/office/drawing/2014/main" id="{C3D8432C-D5E0-4796-8B51-0F0B2801A6F2}"/>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Send structured records and query the resulting workflow</a:t>
            </a:r>
          </a:p>
        </p:txBody>
      </p:sp>
      <p:sp>
        <p:nvSpPr>
          <p:cNvPr id="4" name="">
            <a:extLst xmlns:a="http://schemas.openxmlformats.org/drawingml/2006/main">
              <a:ext uri="{FF2B5EF4-FFF2-40B4-BE49-F238E27FC236}">
                <a16:creationId xmlns:a16="http://schemas.microsoft.com/office/drawing/2014/main" id="{76274B53-A880-4B68-B93A-60E18419320E}"/>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C6B6A92-7975-446B-AE19-2B8D34C0298E}"/>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Base path /api/v1; interactive schema at /docs</a:t>
            </a:r>
          </a:p>
        </p:txBody>
      </p:sp>
      <p:sp>
        <p:nvSpPr>
          <p:cNvPr id="6" name="">
            <a:extLst xmlns:a="http://schemas.openxmlformats.org/drawingml/2006/main">
              <a:ext uri="{FF2B5EF4-FFF2-40B4-BE49-F238E27FC236}">
                <a16:creationId xmlns:a16="http://schemas.microsoft.com/office/drawing/2014/main" id="{D353EC06-9986-412B-A028-8EA22C83469D}"/>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D4D2FAB-1ABD-4DA5-AFB7-1103D2E5490E}"/>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Logs and deployments are POST ingestion endpoints</a:t>
            </a:r>
          </a:p>
        </p:txBody>
      </p:sp>
      <p:sp>
        <p:nvSpPr>
          <p:cNvPr id="8" name="">
            <a:extLst xmlns:a="http://schemas.openxmlformats.org/drawingml/2006/main">
              <a:ext uri="{FF2B5EF4-FFF2-40B4-BE49-F238E27FC236}">
                <a16:creationId xmlns:a16="http://schemas.microsoft.com/office/drawing/2014/main" id="{F706D638-400E-45C2-B896-E9A544265C1D}"/>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E6E49D49-6709-43B7-9064-C0AD219AC02B}"/>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Monitor checks and incident analysis are explicit actions</a:t>
            </a:r>
          </a:p>
        </p:txBody>
      </p:sp>
      <p:sp>
        <p:nvSpPr>
          <p:cNvPr id="10" name="">
            <a:extLst xmlns:a="http://schemas.openxmlformats.org/drawingml/2006/main">
              <a:ext uri="{FF2B5EF4-FFF2-40B4-BE49-F238E27FC236}">
                <a16:creationId xmlns:a16="http://schemas.microsoft.com/office/drawing/2014/main" id="{FF6CEE4D-543B-4DA6-94EA-01828BBCD684}"/>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651D7ACA-62FA-49EB-979C-553E831EB911}"/>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19</a:t>
            </a:r>
          </a:p>
        </p:txBody>
      </p:sp>
    </p:spTree>
    <p:extLst>
      <p:ext uri="{BB962C8B-B14F-4D97-AF65-F5344CB8AC3E}">
        <p14:creationId xmlns:p14="http://schemas.microsoft.com/office/powerpoint/2010/main" val="1667907880"/>
      </p:ext>
    </p:extLst>
  </p:cSld>
</p:sld>
</file>

<file path=ppt/slides/slide2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875829-CFE9-4E33-892C-BC2E1F803DD1}"/>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20</a:t>
            </a:r>
          </a:p>
        </p:txBody>
      </p:sp>
      <p:sp>
        <p:nvSpPr>
          <p:cNvPr id="2" name="">
            <a:extLst xmlns:a="http://schemas.openxmlformats.org/drawingml/2006/main">
              <a:ext uri="{FF2B5EF4-FFF2-40B4-BE49-F238E27FC236}">
                <a16:creationId xmlns:a16="http://schemas.microsoft.com/office/drawing/2014/main" id="{1F4DA356-9C8E-4F69-A192-2AE72BEC092C}"/>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Security boundaries</a:t>
            </a:r>
          </a:p>
        </p:txBody>
      </p:sp>
      <p:sp>
        <p:nvSpPr>
          <p:cNvPr id="3" name="">
            <a:extLst xmlns:a="http://schemas.openxmlformats.org/drawingml/2006/main">
              <a:ext uri="{FF2B5EF4-FFF2-40B4-BE49-F238E27FC236}">
                <a16:creationId xmlns:a16="http://schemas.microsoft.com/office/drawing/2014/main" id="{519CC479-4CE7-4EB3-A793-C0BEA07FAC7A}"/>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Use private deployment controls before handling sensitive data</a:t>
            </a:r>
          </a:p>
        </p:txBody>
      </p:sp>
      <p:sp>
        <p:nvSpPr>
          <p:cNvPr id="4" name="">
            <a:extLst xmlns:a="http://schemas.openxmlformats.org/drawingml/2006/main">
              <a:ext uri="{FF2B5EF4-FFF2-40B4-BE49-F238E27FC236}">
                <a16:creationId xmlns:a16="http://schemas.microsoft.com/office/drawing/2014/main" id="{37B52015-D3D9-4DE7-8BB0-654F018B904C}"/>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0805BA6-D080-433B-957D-013E98AC66E4}"/>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Non-demo access uses one shared API key</a:t>
            </a:r>
          </a:p>
        </p:txBody>
      </p:sp>
      <p:sp>
        <p:nvSpPr>
          <p:cNvPr id="6" name="">
            <a:extLst xmlns:a="http://schemas.openxmlformats.org/drawingml/2006/main">
              <a:ext uri="{FF2B5EF4-FFF2-40B4-BE49-F238E27FC236}">
                <a16:creationId xmlns:a16="http://schemas.microsoft.com/office/drawing/2014/main" id="{18990FB6-5528-4DA5-BCAD-FBC4A55085B8}"/>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448F8B5-1C1E-4F1B-B45C-8BCE0ED5DAEF}"/>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Validate outbound destinations and restrict egress</a:t>
            </a:r>
          </a:p>
        </p:txBody>
      </p:sp>
      <p:sp>
        <p:nvSpPr>
          <p:cNvPr id="8" name="">
            <a:extLst xmlns:a="http://schemas.openxmlformats.org/drawingml/2006/main">
              <a:ext uri="{FF2B5EF4-FFF2-40B4-BE49-F238E27FC236}">
                <a16:creationId xmlns:a16="http://schemas.microsoft.com/office/drawing/2014/main" id="{75DC78D9-AD92-4DDE-9EA0-4B254BE89A11}"/>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3D03011E-2CDA-45D1-8BE3-F63F77837BF2}"/>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Remove secrets before ingestion and before AI processing</a:t>
            </a:r>
          </a:p>
        </p:txBody>
      </p:sp>
      <p:sp>
        <p:nvSpPr>
          <p:cNvPr id="10" name="">
            <a:extLst xmlns:a="http://schemas.openxmlformats.org/drawingml/2006/main">
              <a:ext uri="{FF2B5EF4-FFF2-40B4-BE49-F238E27FC236}">
                <a16:creationId xmlns:a16="http://schemas.microsoft.com/office/drawing/2014/main" id="{AB9F0AED-CE61-4744-B21D-DA80CB9A1925}"/>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6804C6C9-ABEE-4635-A645-F4B5EDC2AFB2}"/>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20</a:t>
            </a:r>
          </a:p>
        </p:txBody>
      </p:sp>
    </p:spTree>
    <p:extLst>
      <p:ext uri="{BB962C8B-B14F-4D97-AF65-F5344CB8AC3E}">
        <p14:creationId xmlns:p14="http://schemas.microsoft.com/office/powerpoint/2010/main" val="1156613848"/>
      </p:ext>
    </p:extLst>
  </p:cSld>
</p:sld>
</file>

<file path=ppt/slides/slide2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909916-8241-44F8-982D-3AEF4A0F7784}"/>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21</a:t>
            </a:r>
          </a:p>
        </p:txBody>
      </p:sp>
      <p:sp>
        <p:nvSpPr>
          <p:cNvPr id="2" name="">
            <a:extLst xmlns:a="http://schemas.openxmlformats.org/drawingml/2006/main">
              <a:ext uri="{FF2B5EF4-FFF2-40B4-BE49-F238E27FC236}">
                <a16:creationId xmlns:a16="http://schemas.microsoft.com/office/drawing/2014/main" id="{93A5ACF8-ABBE-4135-AB6C-F12CAF918A03}"/>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Operating and recovering</a:t>
            </a:r>
          </a:p>
        </p:txBody>
      </p:sp>
      <p:sp>
        <p:nvSpPr>
          <p:cNvPr id="3" name="">
            <a:extLst xmlns:a="http://schemas.openxmlformats.org/drawingml/2006/main">
              <a:ext uri="{FF2B5EF4-FFF2-40B4-BE49-F238E27FC236}">
                <a16:creationId xmlns:a16="http://schemas.microsoft.com/office/drawing/2014/main" id="{FD71EE7F-D86F-4B9B-ACFE-648C7E43DDD3}"/>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Watch the worker and protect the SQL database</a:t>
            </a:r>
          </a:p>
        </p:txBody>
      </p:sp>
      <p:sp>
        <p:nvSpPr>
          <p:cNvPr id="4" name="">
            <a:extLst xmlns:a="http://schemas.openxmlformats.org/drawingml/2006/main">
              <a:ext uri="{FF2B5EF4-FFF2-40B4-BE49-F238E27FC236}">
                <a16:creationId xmlns:a16="http://schemas.microsoft.com/office/drawing/2014/main" id="{842068B7-E62D-4DD5-B456-04B78F0D2C3D}"/>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CAB96AC-7F41-452E-9E55-FD8653379D7D}"/>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Readiness checks the database, not end-to-end health</a:t>
            </a:r>
          </a:p>
        </p:txBody>
      </p:sp>
      <p:sp>
        <p:nvSpPr>
          <p:cNvPr id="6" name="">
            <a:extLst xmlns:a="http://schemas.openxmlformats.org/drawingml/2006/main">
              <a:ext uri="{FF2B5EF4-FFF2-40B4-BE49-F238E27FC236}">
                <a16:creationId xmlns:a16="http://schemas.microsoft.com/office/drawing/2014/main" id="{C980B4F6-DDC4-40E1-8F3B-445A37130086}"/>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59B29F4-F520-4E94-BD21-77AC3FEDD22A}"/>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Retention defaults to 30 days for selected record types</a:t>
            </a:r>
          </a:p>
        </p:txBody>
      </p:sp>
      <p:sp>
        <p:nvSpPr>
          <p:cNvPr id="8" name="">
            <a:extLst xmlns:a="http://schemas.openxmlformats.org/drawingml/2006/main">
              <a:ext uri="{FF2B5EF4-FFF2-40B4-BE49-F238E27FC236}">
                <a16:creationId xmlns:a16="http://schemas.microsoft.com/office/drawing/2014/main" id="{48F4DCAB-D32B-42BB-BA64-2EC1F87CDE0B}"/>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E40F7FD-1195-42E0-84AB-5123AE7673A1}"/>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Test backups in an isolated environment before relying on them</a:t>
            </a:r>
          </a:p>
        </p:txBody>
      </p:sp>
      <p:sp>
        <p:nvSpPr>
          <p:cNvPr id="10" name="">
            <a:extLst xmlns:a="http://schemas.openxmlformats.org/drawingml/2006/main">
              <a:ext uri="{FF2B5EF4-FFF2-40B4-BE49-F238E27FC236}">
                <a16:creationId xmlns:a16="http://schemas.microsoft.com/office/drawing/2014/main" id="{A30D75A7-AD72-4E30-B942-79CF8E7AA49D}"/>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77B2BB29-DF46-4E42-84C0-66C3434FB105}"/>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21</a:t>
            </a:r>
          </a:p>
        </p:txBody>
      </p:sp>
    </p:spTree>
    <p:extLst>
      <p:ext uri="{BB962C8B-B14F-4D97-AF65-F5344CB8AC3E}">
        <p14:creationId xmlns:p14="http://schemas.microsoft.com/office/powerpoint/2010/main" val="976855098"/>
      </p:ext>
    </p:extLst>
  </p:cSld>
</p:sld>
</file>

<file path=ppt/slides/slide2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D9D827-D255-487C-9045-F7E9D8075273}"/>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22</a:t>
            </a:r>
          </a:p>
        </p:txBody>
      </p:sp>
      <p:sp>
        <p:nvSpPr>
          <p:cNvPr id="2" name="">
            <a:extLst xmlns:a="http://schemas.openxmlformats.org/drawingml/2006/main">
              <a:ext uri="{FF2B5EF4-FFF2-40B4-BE49-F238E27FC236}">
                <a16:creationId xmlns:a16="http://schemas.microsoft.com/office/drawing/2014/main" id="{6BD93AD8-B8E8-4144-A437-AB45BFAC5E1C}"/>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Validation and honest limits</a:t>
            </a:r>
          </a:p>
        </p:txBody>
      </p:sp>
      <p:sp>
        <p:nvSpPr>
          <p:cNvPr id="3" name="">
            <a:extLst xmlns:a="http://schemas.openxmlformats.org/drawingml/2006/main">
              <a:ext uri="{FF2B5EF4-FFF2-40B4-BE49-F238E27FC236}">
                <a16:creationId xmlns:a16="http://schemas.microsoft.com/office/drawing/2014/main" id="{24B5C05D-DAFF-4E7D-B8D1-D21A6C27A990}"/>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Different checks establish different kinds of confidence</a:t>
            </a:r>
          </a:p>
        </p:txBody>
      </p:sp>
      <p:sp>
        <p:nvSpPr>
          <p:cNvPr id="4" name="">
            <a:extLst xmlns:a="http://schemas.openxmlformats.org/drawingml/2006/main">
              <a:ext uri="{FF2B5EF4-FFF2-40B4-BE49-F238E27FC236}">
                <a16:creationId xmlns:a16="http://schemas.microsoft.com/office/drawing/2014/main" id="{D5AFE913-C4BA-43DE-8A6F-C0774CCE26C9}"/>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736901E-8166-4CD8-8E22-AF1F41608224}"/>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Recorded baseline: 46 API tests, Ruff, typecheck, build</a:t>
            </a:r>
          </a:p>
        </p:txBody>
      </p:sp>
      <p:sp>
        <p:nvSpPr>
          <p:cNvPr id="6" name="">
            <a:extLst xmlns:a="http://schemas.openxmlformats.org/drawingml/2006/main">
              <a:ext uri="{FF2B5EF4-FFF2-40B4-BE49-F238E27FC236}">
                <a16:creationId xmlns:a16="http://schemas.microsoft.com/office/drawing/2014/main" id="{54D900AA-9061-43F1-A381-33EF150CBFE8}"/>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7A6524C-6F46-44B9-AB4D-06883794A561}"/>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Local smoke checks exercise API and worker workflows</a:t>
            </a:r>
          </a:p>
        </p:txBody>
      </p:sp>
      <p:sp>
        <p:nvSpPr>
          <p:cNvPr id="8" name="">
            <a:extLst xmlns:a="http://schemas.openxmlformats.org/drawingml/2006/main">
              <a:ext uri="{FF2B5EF4-FFF2-40B4-BE49-F238E27FC236}">
                <a16:creationId xmlns:a16="http://schemas.microsoft.com/office/drawing/2014/main" id="{8BA782C0-F1BB-4064-97A8-F4914568A1FF}"/>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D8F1A7B0-18D0-411F-9A31-77534F41DF1E}"/>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No measured scale, availability, or AI accuracy guarantee</a:t>
            </a:r>
          </a:p>
        </p:txBody>
      </p:sp>
      <p:sp>
        <p:nvSpPr>
          <p:cNvPr id="10" name="">
            <a:extLst xmlns:a="http://schemas.openxmlformats.org/drawingml/2006/main">
              <a:ext uri="{FF2B5EF4-FFF2-40B4-BE49-F238E27FC236}">
                <a16:creationId xmlns:a16="http://schemas.microsoft.com/office/drawing/2014/main" id="{FF651918-A169-4702-BE6F-F396A9592BA0}"/>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A142A38E-ED79-45D5-91B0-0069E13DDBF8}"/>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22</a:t>
            </a:r>
          </a:p>
        </p:txBody>
      </p:sp>
    </p:spTree>
    <p:extLst>
      <p:ext uri="{BB962C8B-B14F-4D97-AF65-F5344CB8AC3E}">
        <p14:creationId xmlns:p14="http://schemas.microsoft.com/office/powerpoint/2010/main" val="1226697583"/>
      </p:ext>
    </p:extLst>
  </p:cSld>
</p:sld>
</file>

<file path=ppt/slides/slide2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96EFB0E-31EB-4941-8B3D-955B16DC2CE3}"/>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23</a:t>
            </a:r>
          </a:p>
        </p:txBody>
      </p:sp>
      <p:sp>
        <p:nvSpPr>
          <p:cNvPr id="2" name="">
            <a:extLst xmlns:a="http://schemas.openxmlformats.org/drawingml/2006/main">
              <a:ext uri="{FF2B5EF4-FFF2-40B4-BE49-F238E27FC236}">
                <a16:creationId xmlns:a16="http://schemas.microsoft.com/office/drawing/2014/main" id="{D6793AFF-1CCE-41D8-BE7B-23E4F003B4A4}"/>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Worked incident example</a:t>
            </a:r>
          </a:p>
        </p:txBody>
      </p:sp>
      <p:sp>
        <p:nvSpPr>
          <p:cNvPr id="3" name="">
            <a:extLst xmlns:a="http://schemas.openxmlformats.org/drawingml/2006/main">
              <a:ext uri="{FF2B5EF4-FFF2-40B4-BE49-F238E27FC236}">
                <a16:creationId xmlns:a16="http://schemas.microsoft.com/office/drawing/2014/main" id="{53D051E6-DFF9-4037-AB73-AC0008526831}"/>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An engineer follows the evidence instead of trusting a guess</a:t>
            </a:r>
          </a:p>
        </p:txBody>
      </p:sp>
      <p:sp>
        <p:nvSpPr>
          <p:cNvPr id="4" name="">
            <a:extLst xmlns:a="http://schemas.openxmlformats.org/drawingml/2006/main">
              <a:ext uri="{FF2B5EF4-FFF2-40B4-BE49-F238E27FC236}">
                <a16:creationId xmlns:a16="http://schemas.microsoft.com/office/drawing/2014/main" id="{9C155BAD-9180-4704-B3BC-4BB6B22E6AAA}"/>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7F6FFCB-1E3F-4182-888B-785B4DA16E43}"/>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A payments release is recorded and errors increase</a:t>
            </a:r>
          </a:p>
        </p:txBody>
      </p:sp>
      <p:sp>
        <p:nvSpPr>
          <p:cNvPr id="6" name="">
            <a:extLst xmlns:a="http://schemas.openxmlformats.org/drawingml/2006/main">
              <a:ext uri="{FF2B5EF4-FFF2-40B4-BE49-F238E27FC236}">
                <a16:creationId xmlns:a16="http://schemas.microsoft.com/office/drawing/2014/main" id="{4D7A0707-E4D3-4B57-8D7E-60B806867812}"/>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8C65F6C-BA80-4FA7-B0E3-F84D1D05006C}"/>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A rule opens an incident and gathers nearby evidence</a:t>
            </a:r>
          </a:p>
        </p:txBody>
      </p:sp>
      <p:sp>
        <p:nvSpPr>
          <p:cNvPr id="8" name="">
            <a:extLst xmlns:a="http://schemas.openxmlformats.org/drawingml/2006/main">
              <a:ext uri="{FF2B5EF4-FFF2-40B4-BE49-F238E27FC236}">
                <a16:creationId xmlns:a16="http://schemas.microsoft.com/office/drawing/2014/main" id="{8205B743-47BF-41F5-ABDC-4BB4A1552A10}"/>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923E12C-3D4D-470B-B0D0-429942F94F58}"/>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The engineer verifies the hypothesis and resolves manually</a:t>
            </a:r>
          </a:p>
        </p:txBody>
      </p:sp>
      <p:sp>
        <p:nvSpPr>
          <p:cNvPr id="10" name="">
            <a:extLst xmlns:a="http://schemas.openxmlformats.org/drawingml/2006/main">
              <a:ext uri="{FF2B5EF4-FFF2-40B4-BE49-F238E27FC236}">
                <a16:creationId xmlns:a16="http://schemas.microsoft.com/office/drawing/2014/main" id="{0771F042-8AFE-4BE2-AF1C-3C3684F6DFBA}"/>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DF451446-07D3-48B6-A46B-216C21815AEA}"/>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23</a:t>
            </a:r>
          </a:p>
        </p:txBody>
      </p:sp>
    </p:spTree>
    <p:extLst>
      <p:ext uri="{BB962C8B-B14F-4D97-AF65-F5344CB8AC3E}">
        <p14:creationId xmlns:p14="http://schemas.microsoft.com/office/powerpoint/2010/main" val="1167162476"/>
      </p:ext>
    </p:extLst>
  </p:cSld>
</p:sld>
</file>

<file path=ppt/slides/slide2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B6A81B-9534-4830-BBAA-26B7CD0062EF}"/>
              </a:ext>
            </a:extLst>
          </p:cNvPr>
          <p:cNvSpPr>
            <a:spLocks xmlns:a="http://schemas.openxmlformats.org/drawingml/2006/main" noGrp="1"/>
          </p:cNvSpPr>
          <p:nvPr/>
        </p:nvSpPr>
        <p:spPr>
          <a:xfrm xmlns:a="http://schemas.openxmlformats.org/drawingml/2006/main">
            <a:off x="609600" y="285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1">
                <a:solidFill>
                  <a:srgbClr val="087F80"/>
                </a:solidFill>
                <a:latin typeface="Arial"/>
                <a:ea typeface="Arial"/>
                <a:cs typeface="Arial"/>
              </a:defRPr>
            </a:defPPr>
            <a:lvl1pPr>
              <a:defRPr sz="1350" b="1">
                <a:solidFill>
                  <a:srgbClr val="087F80"/>
                </a:solidFill>
                <a:latin typeface="Arial"/>
                <a:ea typeface="Arial"/>
                <a:cs typeface="Arial"/>
              </a:defRPr>
            </a:lvl1pPr>
            <a:lvl2pPr>
              <a:defRPr sz="1350" b="1">
                <a:solidFill>
                  <a:srgbClr val="087F80"/>
                </a:solidFill>
                <a:latin typeface="Arial"/>
                <a:ea typeface="Arial"/>
                <a:cs typeface="Arial"/>
              </a:defRPr>
            </a:lvl2pPr>
            <a:lvl3pPr>
              <a:defRPr sz="1350" b="1">
                <a:solidFill>
                  <a:srgbClr val="087F80"/>
                </a:solidFill>
                <a:latin typeface="Arial"/>
                <a:ea typeface="Arial"/>
                <a:cs typeface="Arial"/>
              </a:defRPr>
            </a:lvl3pPr>
            <a:lvl4pPr>
              <a:defRPr sz="1350" b="1">
                <a:solidFill>
                  <a:srgbClr val="087F80"/>
                </a:solidFill>
                <a:latin typeface="Arial"/>
                <a:ea typeface="Arial"/>
                <a:cs typeface="Arial"/>
              </a:defRPr>
            </a:lvl4pPr>
            <a:lvl5pPr>
              <a:defRPr sz="1350" b="1">
                <a:solidFill>
                  <a:srgbClr val="087F80"/>
                </a:solidFill>
                <a:latin typeface="Arial"/>
                <a:ea typeface="Arial"/>
                <a:cs typeface="Arial"/>
              </a:defRPr>
            </a:lvl5pPr>
            <a:lvl6pPr>
              <a:defRPr sz="1350" b="1">
                <a:solidFill>
                  <a:srgbClr val="087F80"/>
                </a:solidFill>
                <a:latin typeface="Arial"/>
                <a:ea typeface="Arial"/>
                <a:cs typeface="Arial"/>
              </a:defRPr>
            </a:lvl6pPr>
            <a:lvl7pPr>
              <a:defRPr sz="1350" b="1">
                <a:solidFill>
                  <a:srgbClr val="087F80"/>
                </a:solidFill>
                <a:latin typeface="Arial"/>
                <a:ea typeface="Arial"/>
                <a:cs typeface="Arial"/>
              </a:defRPr>
            </a:lvl7pPr>
            <a:lvl8pPr>
              <a:defRPr sz="1350" b="1">
                <a:solidFill>
                  <a:srgbClr val="087F80"/>
                </a:solidFill>
                <a:latin typeface="Arial"/>
                <a:ea typeface="Arial"/>
                <a:cs typeface="Arial"/>
              </a:defRPr>
            </a:lvl8pPr>
            <a:lvl9pPr>
              <a:defRPr sz="1350" b="1">
                <a:solidFill>
                  <a:srgbClr val="087F80"/>
                </a:solidFill>
                <a:latin typeface="Arial"/>
                <a:ea typeface="Arial"/>
                <a:cs typeface="Arial"/>
              </a:defRPr>
            </a:lvl9pPr>
          </a:lstStyle>
          <a:p xmlns:a="http://schemas.openxmlformats.org/drawingml/2006/main">
            <a:pPr>
              <a:defRPr sz="1350" b="1">
                <a:solidFill>
                  <a:srgbClr val="087F80"/>
                </a:solidFill>
                <a:latin typeface="Arial"/>
                <a:ea typeface="Arial"/>
                <a:cs typeface="Arial"/>
              </a:defRPr>
            </a:pPr>
            <a:r>
              <a:rPr sz="1350" b="1">
                <a:solidFill>
                  <a:srgbClr val="087F80"/>
                </a:solidFill>
                <a:latin typeface="Arial"/>
                <a:ea typeface="Arial"/>
                <a:cs typeface="Arial"/>
              </a:rPr>
              <a:t>TRACEHUNT AI  /  24</a:t>
            </a:r>
          </a:p>
        </p:txBody>
      </p:sp>
      <p:sp>
        <p:nvSpPr>
          <p:cNvPr id="2" name="">
            <a:extLst xmlns:a="http://schemas.openxmlformats.org/drawingml/2006/main">
              <a:ext uri="{FF2B5EF4-FFF2-40B4-BE49-F238E27FC236}">
                <a16:creationId xmlns:a16="http://schemas.microsoft.com/office/drawing/2014/main" id="{5C30406A-FB52-4084-A4C8-D91E58C6EC61}"/>
              </a:ext>
            </a:extLst>
          </p:cNvPr>
          <p:cNvSpPr>
            <a:spLocks xmlns:a="http://schemas.openxmlformats.org/drawingml/2006/main" noGrp="1"/>
          </p:cNvSpPr>
          <p:nvPr/>
        </p:nvSpPr>
        <p:spPr>
          <a:xfrm xmlns:a="http://schemas.openxmlformats.org/drawingml/2006/main">
            <a:off x="609600" y="8096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22B3C"/>
                </a:solidFill>
                <a:latin typeface="Arial"/>
                <a:ea typeface="Arial"/>
                <a:cs typeface="Arial"/>
              </a:defRPr>
            </a:defPPr>
            <a:lvl1pPr>
              <a:defRPr sz="3300" b="1">
                <a:solidFill>
                  <a:srgbClr val="122B3C"/>
                </a:solidFill>
                <a:latin typeface="Arial"/>
                <a:ea typeface="Arial"/>
                <a:cs typeface="Arial"/>
              </a:defRPr>
            </a:lvl1pPr>
            <a:lvl2pPr>
              <a:defRPr sz="3300" b="1">
                <a:solidFill>
                  <a:srgbClr val="122B3C"/>
                </a:solidFill>
                <a:latin typeface="Arial"/>
                <a:ea typeface="Arial"/>
                <a:cs typeface="Arial"/>
              </a:defRPr>
            </a:lvl2pPr>
            <a:lvl3pPr>
              <a:defRPr sz="3300" b="1">
                <a:solidFill>
                  <a:srgbClr val="122B3C"/>
                </a:solidFill>
                <a:latin typeface="Arial"/>
                <a:ea typeface="Arial"/>
                <a:cs typeface="Arial"/>
              </a:defRPr>
            </a:lvl3pPr>
            <a:lvl4pPr>
              <a:defRPr sz="3300" b="1">
                <a:solidFill>
                  <a:srgbClr val="122B3C"/>
                </a:solidFill>
                <a:latin typeface="Arial"/>
                <a:ea typeface="Arial"/>
                <a:cs typeface="Arial"/>
              </a:defRPr>
            </a:lvl4pPr>
            <a:lvl5pPr>
              <a:defRPr sz="3300" b="1">
                <a:solidFill>
                  <a:srgbClr val="122B3C"/>
                </a:solidFill>
                <a:latin typeface="Arial"/>
                <a:ea typeface="Arial"/>
                <a:cs typeface="Arial"/>
              </a:defRPr>
            </a:lvl5pPr>
            <a:lvl6pPr>
              <a:defRPr sz="3300" b="1">
                <a:solidFill>
                  <a:srgbClr val="122B3C"/>
                </a:solidFill>
                <a:latin typeface="Arial"/>
                <a:ea typeface="Arial"/>
                <a:cs typeface="Arial"/>
              </a:defRPr>
            </a:lvl6pPr>
            <a:lvl7pPr>
              <a:defRPr sz="3300" b="1">
                <a:solidFill>
                  <a:srgbClr val="122B3C"/>
                </a:solidFill>
                <a:latin typeface="Arial"/>
                <a:ea typeface="Arial"/>
                <a:cs typeface="Arial"/>
              </a:defRPr>
            </a:lvl7pPr>
            <a:lvl8pPr>
              <a:defRPr sz="3300" b="1">
                <a:solidFill>
                  <a:srgbClr val="122B3C"/>
                </a:solidFill>
                <a:latin typeface="Arial"/>
                <a:ea typeface="Arial"/>
                <a:cs typeface="Arial"/>
              </a:defRPr>
            </a:lvl8pPr>
            <a:lvl9pPr>
              <a:defRPr sz="3300" b="1">
                <a:solidFill>
                  <a:srgbClr val="122B3C"/>
                </a:solidFill>
                <a:latin typeface="Arial"/>
                <a:ea typeface="Arial"/>
                <a:cs typeface="Arial"/>
              </a:defRPr>
            </a:lvl9pPr>
          </a:lstStyle>
          <a:p xmlns:a="http://schemas.openxmlformats.org/drawingml/2006/main">
            <a:pPr>
              <a:defRPr sz="3300" b="1">
                <a:solidFill>
                  <a:srgbClr val="122B3C"/>
                </a:solidFill>
                <a:latin typeface="Arial"/>
                <a:ea typeface="Arial"/>
                <a:cs typeface="Arial"/>
              </a:defRPr>
            </a:pPr>
            <a:r>
              <a:rPr sz="3300" b="1">
                <a:solidFill>
                  <a:srgbClr val="122B3C"/>
                </a:solidFill>
                <a:latin typeface="Arial"/>
                <a:ea typeface="Arial"/>
                <a:cs typeface="Arial"/>
              </a:rPr>
              <a:t>Roadmap and source map</a:t>
            </a:r>
          </a:p>
        </p:txBody>
      </p:sp>
      <p:sp>
        <p:nvSpPr>
          <p:cNvPr id="3" name="">
            <a:extLst xmlns:a="http://schemas.openxmlformats.org/drawingml/2006/main">
              <a:ext uri="{FF2B5EF4-FFF2-40B4-BE49-F238E27FC236}">
                <a16:creationId xmlns:a16="http://schemas.microsoft.com/office/drawing/2014/main" id="{C9418936-5DD9-4EB0-9142-77D54BCB9D5B}"/>
              </a:ext>
            </a:extLst>
          </p:cNvPr>
          <p:cNvSpPr>
            <a:spLocks xmlns:a="http://schemas.openxmlformats.org/drawingml/2006/main" noGrp="1"/>
          </p:cNvSpPr>
          <p:nvPr/>
        </p:nvSpPr>
        <p:spPr>
          <a:xfrm xmlns:a="http://schemas.openxmlformats.org/drawingml/2006/main">
            <a:off x="609600" y="1571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087F80"/>
                </a:solidFill>
                <a:latin typeface="Arial"/>
                <a:ea typeface="Arial"/>
                <a:cs typeface="Arial"/>
              </a:defRPr>
            </a:defPPr>
            <a:lvl1pPr>
              <a:defRPr sz="1950" b="0">
                <a:solidFill>
                  <a:srgbClr val="087F80"/>
                </a:solidFill>
                <a:latin typeface="Arial"/>
                <a:ea typeface="Arial"/>
                <a:cs typeface="Arial"/>
              </a:defRPr>
            </a:lvl1pPr>
            <a:lvl2pPr>
              <a:defRPr sz="1950" b="0">
                <a:solidFill>
                  <a:srgbClr val="087F80"/>
                </a:solidFill>
                <a:latin typeface="Arial"/>
                <a:ea typeface="Arial"/>
                <a:cs typeface="Arial"/>
              </a:defRPr>
            </a:lvl2pPr>
            <a:lvl3pPr>
              <a:defRPr sz="1950" b="0">
                <a:solidFill>
                  <a:srgbClr val="087F80"/>
                </a:solidFill>
                <a:latin typeface="Arial"/>
                <a:ea typeface="Arial"/>
                <a:cs typeface="Arial"/>
              </a:defRPr>
            </a:lvl3pPr>
            <a:lvl4pPr>
              <a:defRPr sz="1950" b="0">
                <a:solidFill>
                  <a:srgbClr val="087F80"/>
                </a:solidFill>
                <a:latin typeface="Arial"/>
                <a:ea typeface="Arial"/>
                <a:cs typeface="Arial"/>
              </a:defRPr>
            </a:lvl4pPr>
            <a:lvl5pPr>
              <a:defRPr sz="1950" b="0">
                <a:solidFill>
                  <a:srgbClr val="087F80"/>
                </a:solidFill>
                <a:latin typeface="Arial"/>
                <a:ea typeface="Arial"/>
                <a:cs typeface="Arial"/>
              </a:defRPr>
            </a:lvl5pPr>
            <a:lvl6pPr>
              <a:defRPr sz="1950" b="0">
                <a:solidFill>
                  <a:srgbClr val="087F80"/>
                </a:solidFill>
                <a:latin typeface="Arial"/>
                <a:ea typeface="Arial"/>
                <a:cs typeface="Arial"/>
              </a:defRPr>
            </a:lvl6pPr>
            <a:lvl7pPr>
              <a:defRPr sz="1950" b="0">
                <a:solidFill>
                  <a:srgbClr val="087F80"/>
                </a:solidFill>
                <a:latin typeface="Arial"/>
                <a:ea typeface="Arial"/>
                <a:cs typeface="Arial"/>
              </a:defRPr>
            </a:lvl7pPr>
            <a:lvl8pPr>
              <a:defRPr sz="1950" b="0">
                <a:solidFill>
                  <a:srgbClr val="087F80"/>
                </a:solidFill>
                <a:latin typeface="Arial"/>
                <a:ea typeface="Arial"/>
                <a:cs typeface="Arial"/>
              </a:defRPr>
            </a:lvl8pPr>
            <a:lvl9pPr>
              <a:defRPr sz="1950" b="0">
                <a:solidFill>
                  <a:srgbClr val="087F80"/>
                </a:solidFill>
                <a:latin typeface="Arial"/>
                <a:ea typeface="Arial"/>
                <a:cs typeface="Arial"/>
              </a:defRPr>
            </a:lvl9pPr>
          </a:lstStyle>
          <a:p xmlns:a="http://schemas.openxmlformats.org/drawingml/2006/main">
            <a:pPr>
              <a:defRPr sz="1950" b="0">
                <a:solidFill>
                  <a:srgbClr val="087F80"/>
                </a:solidFill>
                <a:latin typeface="Arial"/>
                <a:ea typeface="Arial"/>
                <a:cs typeface="Arial"/>
              </a:defRPr>
            </a:pPr>
            <a:r>
              <a:rPr sz="1950" b="0">
                <a:solidFill>
                  <a:srgbClr val="087F80"/>
                </a:solidFill>
                <a:latin typeface="Arial"/>
                <a:ea typeface="Arial"/>
                <a:cs typeface="Arial"/>
              </a:rPr>
              <a:t>Extend the foundation with evidence and explicit priorities</a:t>
            </a:r>
          </a:p>
        </p:txBody>
      </p:sp>
      <p:sp>
        <p:nvSpPr>
          <p:cNvPr id="4" name="">
            <a:extLst xmlns:a="http://schemas.openxmlformats.org/drawingml/2006/main">
              <a:ext uri="{FF2B5EF4-FFF2-40B4-BE49-F238E27FC236}">
                <a16:creationId xmlns:a16="http://schemas.microsoft.com/office/drawing/2014/main" id="{A2302F6E-47D6-4281-AEE2-B2CBD41FC130}"/>
              </a:ext>
            </a:extLst>
          </p:cNvPr>
          <p:cNvSpPr>
            <a:spLocks xmlns:a="http://schemas.openxmlformats.org/drawingml/2006/main" noGrp="1"/>
          </p:cNvSpPr>
          <p:nvPr/>
        </p:nvSpPr>
        <p:spPr>
          <a:xfrm xmlns:a="http://schemas.openxmlformats.org/drawingml/2006/main">
            <a:off x="609600" y="26193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D99C0C9-32C6-4AAC-8641-4105A613DC70}"/>
              </a:ext>
            </a:extLst>
          </p:cNvPr>
          <p:cNvSpPr>
            <a:spLocks xmlns:a="http://schemas.openxmlformats.org/drawingml/2006/main" noGrp="1"/>
          </p:cNvSpPr>
          <p:nvPr/>
        </p:nvSpPr>
        <p:spPr>
          <a:xfrm xmlns:a="http://schemas.openxmlformats.org/drawingml/2006/main">
            <a:off x="1476375" y="2571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Identity, permissions, signed alerts, and stronger audit</a:t>
            </a:r>
          </a:p>
        </p:txBody>
      </p:sp>
      <p:sp>
        <p:nvSpPr>
          <p:cNvPr id="6" name="">
            <a:extLst xmlns:a="http://schemas.openxmlformats.org/drawingml/2006/main">
              <a:ext uri="{FF2B5EF4-FFF2-40B4-BE49-F238E27FC236}">
                <a16:creationId xmlns:a16="http://schemas.microsoft.com/office/drawing/2014/main" id="{36C15366-CEA9-4B0D-AD9D-6FD882E64001}"/>
              </a:ext>
            </a:extLst>
          </p:cNvPr>
          <p:cNvSpPr>
            <a:spLocks xmlns:a="http://schemas.openxmlformats.org/drawingml/2006/main" noGrp="1"/>
          </p:cNvSpPr>
          <p:nvPr/>
        </p:nvSpPr>
        <p:spPr>
          <a:xfrm xmlns:a="http://schemas.openxmlformats.org/drawingml/2006/main">
            <a:off x="609600" y="36290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1B6FEC9-E9AB-4A1E-B308-75679DAB477A}"/>
              </a:ext>
            </a:extLst>
          </p:cNvPr>
          <p:cNvSpPr>
            <a:spLocks xmlns:a="http://schemas.openxmlformats.org/drawingml/2006/main" noGrp="1"/>
          </p:cNvSpPr>
          <p:nvPr/>
        </p:nvSpPr>
        <p:spPr>
          <a:xfrm xmlns:a="http://schemas.openxmlformats.org/drawingml/2006/main">
            <a:off x="1476375" y="35814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Rollups, worker health, replay tooling, and load testing</a:t>
            </a:r>
          </a:p>
        </p:txBody>
      </p:sp>
      <p:sp>
        <p:nvSpPr>
          <p:cNvPr id="8" name="">
            <a:extLst xmlns:a="http://schemas.openxmlformats.org/drawingml/2006/main">
              <a:ext uri="{FF2B5EF4-FFF2-40B4-BE49-F238E27FC236}">
                <a16:creationId xmlns:a16="http://schemas.microsoft.com/office/drawing/2014/main" id="{B1CA57BF-7323-4925-8E41-10B6A5B7A8C4}"/>
              </a:ext>
            </a:extLst>
          </p:cNvPr>
          <p:cNvSpPr>
            <a:spLocks xmlns:a="http://schemas.openxmlformats.org/drawingml/2006/main" noGrp="1"/>
          </p:cNvSpPr>
          <p:nvPr/>
        </p:nvSpPr>
        <p:spPr>
          <a:xfrm xmlns:a="http://schemas.openxmlformats.org/drawingml/2006/main">
            <a:off x="609600" y="46386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087F80"/>
                </a:solidFill>
                <a:latin typeface="Arial"/>
                <a:ea typeface="Arial"/>
                <a:cs typeface="Arial"/>
              </a:defRPr>
            </a:defPPr>
            <a:lvl1pPr>
              <a:defRPr sz="2250" b="1">
                <a:solidFill>
                  <a:srgbClr val="087F80"/>
                </a:solidFill>
                <a:latin typeface="Arial"/>
                <a:ea typeface="Arial"/>
                <a:cs typeface="Arial"/>
              </a:defRPr>
            </a:lvl1pPr>
            <a:lvl2pPr>
              <a:defRPr sz="2250" b="1">
                <a:solidFill>
                  <a:srgbClr val="087F80"/>
                </a:solidFill>
                <a:latin typeface="Arial"/>
                <a:ea typeface="Arial"/>
                <a:cs typeface="Arial"/>
              </a:defRPr>
            </a:lvl2pPr>
            <a:lvl3pPr>
              <a:defRPr sz="2250" b="1">
                <a:solidFill>
                  <a:srgbClr val="087F80"/>
                </a:solidFill>
                <a:latin typeface="Arial"/>
                <a:ea typeface="Arial"/>
                <a:cs typeface="Arial"/>
              </a:defRPr>
            </a:lvl3pPr>
            <a:lvl4pPr>
              <a:defRPr sz="2250" b="1">
                <a:solidFill>
                  <a:srgbClr val="087F80"/>
                </a:solidFill>
                <a:latin typeface="Arial"/>
                <a:ea typeface="Arial"/>
                <a:cs typeface="Arial"/>
              </a:defRPr>
            </a:lvl4pPr>
            <a:lvl5pPr>
              <a:defRPr sz="2250" b="1">
                <a:solidFill>
                  <a:srgbClr val="087F80"/>
                </a:solidFill>
                <a:latin typeface="Arial"/>
                <a:ea typeface="Arial"/>
                <a:cs typeface="Arial"/>
              </a:defRPr>
            </a:lvl5pPr>
            <a:lvl6pPr>
              <a:defRPr sz="2250" b="1">
                <a:solidFill>
                  <a:srgbClr val="087F80"/>
                </a:solidFill>
                <a:latin typeface="Arial"/>
                <a:ea typeface="Arial"/>
                <a:cs typeface="Arial"/>
              </a:defRPr>
            </a:lvl6pPr>
            <a:lvl7pPr>
              <a:defRPr sz="2250" b="1">
                <a:solidFill>
                  <a:srgbClr val="087F80"/>
                </a:solidFill>
                <a:latin typeface="Arial"/>
                <a:ea typeface="Arial"/>
                <a:cs typeface="Arial"/>
              </a:defRPr>
            </a:lvl7pPr>
            <a:lvl8pPr>
              <a:defRPr sz="2250" b="1">
                <a:solidFill>
                  <a:srgbClr val="087F80"/>
                </a:solidFill>
                <a:latin typeface="Arial"/>
                <a:ea typeface="Arial"/>
                <a:cs typeface="Arial"/>
              </a:defRPr>
            </a:lvl8pPr>
            <a:lvl9pPr>
              <a:defRPr sz="2250" b="1">
                <a:solidFill>
                  <a:srgbClr val="087F80"/>
                </a:solidFill>
                <a:latin typeface="Arial"/>
                <a:ea typeface="Arial"/>
                <a:cs typeface="Arial"/>
              </a:defRPr>
            </a:lvl9pPr>
          </a:lstStyle>
          <a:p xmlns:a="http://schemas.openxmlformats.org/drawingml/2006/main">
            <a:pPr>
              <a:defRPr sz="2250" b="1">
                <a:solidFill>
                  <a:srgbClr val="087F80"/>
                </a:solidFill>
                <a:latin typeface="Arial"/>
                <a:ea typeface="Arial"/>
                <a:cs typeface="Arial"/>
              </a:defRPr>
            </a:pPr>
            <a:r>
              <a:rPr sz="2250" b="1">
                <a:solidFill>
                  <a:srgbClr val="087F80"/>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10DCE88-C6DE-4577-8930-8FE7A453C897}"/>
              </a:ext>
            </a:extLst>
          </p:cNvPr>
          <p:cNvSpPr>
            <a:spLocks xmlns:a="http://schemas.openxmlformats.org/drawingml/2006/main" noGrp="1"/>
          </p:cNvSpPr>
          <p:nvPr/>
        </p:nvSpPr>
        <p:spPr>
          <a:xfrm xmlns:a="http://schemas.openxmlformats.org/drawingml/2006/main">
            <a:off x="1476375" y="45910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122B3C"/>
                </a:solidFill>
                <a:latin typeface="Arial"/>
                <a:ea typeface="Arial"/>
                <a:cs typeface="Arial"/>
              </a:defRPr>
            </a:defPPr>
            <a:lvl1pPr>
              <a:defRPr sz="2250" b="0">
                <a:solidFill>
                  <a:srgbClr val="122B3C"/>
                </a:solidFill>
                <a:latin typeface="Arial"/>
                <a:ea typeface="Arial"/>
                <a:cs typeface="Arial"/>
              </a:defRPr>
            </a:lvl1pPr>
            <a:lvl2pPr>
              <a:defRPr sz="2250" b="0">
                <a:solidFill>
                  <a:srgbClr val="122B3C"/>
                </a:solidFill>
                <a:latin typeface="Arial"/>
                <a:ea typeface="Arial"/>
                <a:cs typeface="Arial"/>
              </a:defRPr>
            </a:lvl2pPr>
            <a:lvl3pPr>
              <a:defRPr sz="2250" b="0">
                <a:solidFill>
                  <a:srgbClr val="122B3C"/>
                </a:solidFill>
                <a:latin typeface="Arial"/>
                <a:ea typeface="Arial"/>
                <a:cs typeface="Arial"/>
              </a:defRPr>
            </a:lvl3pPr>
            <a:lvl4pPr>
              <a:defRPr sz="2250" b="0">
                <a:solidFill>
                  <a:srgbClr val="122B3C"/>
                </a:solidFill>
                <a:latin typeface="Arial"/>
                <a:ea typeface="Arial"/>
                <a:cs typeface="Arial"/>
              </a:defRPr>
            </a:lvl4pPr>
            <a:lvl5pPr>
              <a:defRPr sz="2250" b="0">
                <a:solidFill>
                  <a:srgbClr val="122B3C"/>
                </a:solidFill>
                <a:latin typeface="Arial"/>
                <a:ea typeface="Arial"/>
                <a:cs typeface="Arial"/>
              </a:defRPr>
            </a:lvl5pPr>
            <a:lvl6pPr>
              <a:defRPr sz="2250" b="0">
                <a:solidFill>
                  <a:srgbClr val="122B3C"/>
                </a:solidFill>
                <a:latin typeface="Arial"/>
                <a:ea typeface="Arial"/>
                <a:cs typeface="Arial"/>
              </a:defRPr>
            </a:lvl6pPr>
            <a:lvl7pPr>
              <a:defRPr sz="2250" b="0">
                <a:solidFill>
                  <a:srgbClr val="122B3C"/>
                </a:solidFill>
                <a:latin typeface="Arial"/>
                <a:ea typeface="Arial"/>
                <a:cs typeface="Arial"/>
              </a:defRPr>
            </a:lvl7pPr>
            <a:lvl8pPr>
              <a:defRPr sz="2250" b="0">
                <a:solidFill>
                  <a:srgbClr val="122B3C"/>
                </a:solidFill>
                <a:latin typeface="Arial"/>
                <a:ea typeface="Arial"/>
                <a:cs typeface="Arial"/>
              </a:defRPr>
            </a:lvl8pPr>
            <a:lvl9pPr>
              <a:defRPr sz="2250" b="0">
                <a:solidFill>
                  <a:srgbClr val="122B3C"/>
                </a:solidFill>
                <a:latin typeface="Arial"/>
                <a:ea typeface="Arial"/>
                <a:cs typeface="Arial"/>
              </a:defRPr>
            </a:lvl9pPr>
          </a:lstStyle>
          <a:p xmlns:a="http://schemas.openxmlformats.org/drawingml/2006/main">
            <a:pPr>
              <a:defRPr sz="2250" b="0">
                <a:solidFill>
                  <a:srgbClr val="122B3C"/>
                </a:solidFill>
                <a:latin typeface="Arial"/>
                <a:ea typeface="Arial"/>
                <a:cs typeface="Arial"/>
              </a:defRPr>
            </a:pPr>
            <a:r>
              <a:rPr sz="2250" b="0">
                <a:solidFill>
                  <a:srgbClr val="122B3C"/>
                </a:solidFill>
                <a:latin typeface="Arial"/>
                <a:ea typeface="Arial"/>
                <a:cs typeface="Arial"/>
              </a:rPr>
              <a:t>Tracing ingestion and evaluated adaptive detection</a:t>
            </a:r>
          </a:p>
        </p:txBody>
      </p:sp>
      <p:sp>
        <p:nvSpPr>
          <p:cNvPr id="10" name="">
            <a:extLst xmlns:a="http://schemas.openxmlformats.org/drawingml/2006/main">
              <a:ext uri="{FF2B5EF4-FFF2-40B4-BE49-F238E27FC236}">
                <a16:creationId xmlns:a16="http://schemas.microsoft.com/office/drawing/2014/main" id="{D44D88AD-B445-4164-A895-8B6896812EDC}"/>
              </a:ext>
            </a:extLst>
          </p:cNvPr>
          <p:cNvSpPr>
            <a:spLocks xmlns:a="http://schemas.openxmlformats.org/drawingml/2006/main" noGrp="1"/>
          </p:cNvSpPr>
          <p:nvPr/>
        </p:nvSpPr>
        <p:spPr>
          <a:xfrm xmlns:a="http://schemas.openxmlformats.org/drawingml/2006/main">
            <a:off x="609600" y="63055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IMPLEMENTATION: 0f148d6  |  Detailed explanation and source links in speaker notes</a:t>
            </a:r>
          </a:p>
        </p:txBody>
      </p:sp>
      <p:sp>
        <p:nvSpPr>
          <p:cNvPr id="11" name="">
            <a:extLst xmlns:a="http://schemas.openxmlformats.org/drawingml/2006/main">
              <a:ext uri="{FF2B5EF4-FFF2-40B4-BE49-F238E27FC236}">
                <a16:creationId xmlns:a16="http://schemas.microsoft.com/office/drawing/2014/main" id="{4C19AF21-8A07-4B13-BB3A-EA47EF48EDBD}"/>
              </a:ext>
            </a:extLst>
          </p:cNvPr>
          <p:cNvSpPr>
            <a:spLocks xmlns:a="http://schemas.openxmlformats.org/drawingml/2006/main" noGrp="1"/>
          </p:cNvSpPr>
          <p:nvPr/>
        </p:nvSpPr>
        <p:spPr>
          <a:xfrm xmlns:a="http://schemas.openxmlformats.org/drawingml/2006/main">
            <a:off x="11049000" y="63055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536471"/>
                </a:solidFill>
                <a:latin typeface="Arial"/>
                <a:ea typeface="Arial"/>
                <a:cs typeface="Arial"/>
              </a:defRPr>
            </a:defPPr>
            <a:lvl1pPr>
              <a:defRPr sz="1200" b="0">
                <a:solidFill>
                  <a:srgbClr val="536471"/>
                </a:solidFill>
                <a:latin typeface="Arial"/>
                <a:ea typeface="Arial"/>
                <a:cs typeface="Arial"/>
              </a:defRPr>
            </a:lvl1pPr>
            <a:lvl2pPr>
              <a:defRPr sz="1200" b="0">
                <a:solidFill>
                  <a:srgbClr val="536471"/>
                </a:solidFill>
                <a:latin typeface="Arial"/>
                <a:ea typeface="Arial"/>
                <a:cs typeface="Arial"/>
              </a:defRPr>
            </a:lvl2pPr>
            <a:lvl3pPr>
              <a:defRPr sz="1200" b="0">
                <a:solidFill>
                  <a:srgbClr val="536471"/>
                </a:solidFill>
                <a:latin typeface="Arial"/>
                <a:ea typeface="Arial"/>
                <a:cs typeface="Arial"/>
              </a:defRPr>
            </a:lvl3pPr>
            <a:lvl4pPr>
              <a:defRPr sz="1200" b="0">
                <a:solidFill>
                  <a:srgbClr val="536471"/>
                </a:solidFill>
                <a:latin typeface="Arial"/>
                <a:ea typeface="Arial"/>
                <a:cs typeface="Arial"/>
              </a:defRPr>
            </a:lvl4pPr>
            <a:lvl5pPr>
              <a:defRPr sz="1200" b="0">
                <a:solidFill>
                  <a:srgbClr val="536471"/>
                </a:solidFill>
                <a:latin typeface="Arial"/>
                <a:ea typeface="Arial"/>
                <a:cs typeface="Arial"/>
              </a:defRPr>
            </a:lvl5pPr>
            <a:lvl6pPr>
              <a:defRPr sz="1200" b="0">
                <a:solidFill>
                  <a:srgbClr val="536471"/>
                </a:solidFill>
                <a:latin typeface="Arial"/>
                <a:ea typeface="Arial"/>
                <a:cs typeface="Arial"/>
              </a:defRPr>
            </a:lvl6pPr>
            <a:lvl7pPr>
              <a:defRPr sz="1200" b="0">
                <a:solidFill>
                  <a:srgbClr val="536471"/>
                </a:solidFill>
                <a:latin typeface="Arial"/>
                <a:ea typeface="Arial"/>
                <a:cs typeface="Arial"/>
              </a:defRPr>
            </a:lvl7pPr>
            <a:lvl8pPr>
              <a:defRPr sz="1200" b="0">
                <a:solidFill>
                  <a:srgbClr val="536471"/>
                </a:solidFill>
                <a:latin typeface="Arial"/>
                <a:ea typeface="Arial"/>
                <a:cs typeface="Arial"/>
              </a:defRPr>
            </a:lvl8pPr>
            <a:lvl9pPr>
              <a:defRPr sz="1200" b="0">
                <a:solidFill>
                  <a:srgbClr val="536471"/>
                </a:solidFill>
                <a:latin typeface="Arial"/>
                <a:ea typeface="Arial"/>
                <a:cs typeface="Arial"/>
              </a:defRPr>
            </a:lvl9pPr>
          </a:lstStyle>
          <a:p xmlns:a="http://schemas.openxmlformats.org/drawingml/2006/main">
            <a:pPr>
              <a:defRPr sz="1200" b="0">
                <a:solidFill>
                  <a:srgbClr val="536471"/>
                </a:solidFill>
                <a:latin typeface="Arial"/>
                <a:ea typeface="Arial"/>
                <a:cs typeface="Arial"/>
              </a:defRPr>
            </a:pPr>
            <a:r>
              <a:rPr sz="1200" b="0">
                <a:solidFill>
                  <a:srgbClr val="536471"/>
                </a:solidFill>
                <a:latin typeface="Arial"/>
                <a:ea typeface="Arial"/>
                <a:cs typeface="Arial"/>
              </a:rPr>
              <a:t>24</a:t>
            </a:r>
          </a:p>
        </p:txBody>
      </p:sp>
    </p:spTree>
    <p:extLst>
      <p:ext uri="{BB962C8B-B14F-4D97-AF65-F5344CB8AC3E}">
        <p14:creationId xmlns:p14="http://schemas.microsoft.com/office/powerpoint/2010/main" val="1912879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2026-10-22T20:39:12.7390000Z</dcterms:created>
  <dcterms:modified xsi:type="dcterms:W3CDTF">2026-10-22T20:39:12.7390000Z</dcterms:modified>
</coreProperties>
</file>